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764" r:id="rId2"/>
    <p:sldId id="1608" r:id="rId3"/>
    <p:sldId id="1609" r:id="rId4"/>
    <p:sldId id="1897" r:id="rId5"/>
    <p:sldId id="1683" r:id="rId6"/>
    <p:sldId id="1682" r:id="rId7"/>
    <p:sldId id="1610" r:id="rId8"/>
    <p:sldId id="1664" r:id="rId9"/>
    <p:sldId id="1899" r:id="rId10"/>
    <p:sldId id="1895" r:id="rId11"/>
    <p:sldId id="1686" r:id="rId12"/>
    <p:sldId id="1739" r:id="rId13"/>
    <p:sldId id="1890" r:id="rId14"/>
    <p:sldId id="1891" r:id="rId15"/>
    <p:sldId id="1896" r:id="rId16"/>
    <p:sldId id="1301" r:id="rId17"/>
    <p:sldId id="1671" r:id="rId18"/>
    <p:sldId id="1894" r:id="rId19"/>
    <p:sldId id="1657" r:id="rId20"/>
    <p:sldId id="1893" r:id="rId21"/>
    <p:sldId id="1879" r:id="rId22"/>
  </p:sldIdLst>
  <p:sldSz cx="9144000" cy="6858000" type="screen4x3"/>
  <p:notesSz cx="6797675" cy="9926638"/>
  <p:embeddedFontLst>
    <p:embeddedFont>
      <p:font typeface="Book Antiqua" panose="02040602050305030304" pitchFamily="18" charset="0"/>
      <p:regular r:id="rId24"/>
      <p:bold r:id="rId25"/>
      <p:italic r:id="rId26"/>
      <p:boldItalic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FangSong" panose="02010609060101010101" pitchFamily="49" charset="-122"/>
      <p:regular r:id="rId32"/>
    </p:embeddedFont>
    <p:embeddedFont>
      <p:font typeface="Libre Baskerville" panose="02020500000000000000" charset="0"/>
      <p:regular r:id="rId33"/>
      <p:bold r:id="rId34"/>
      <p:italic r:id="rId35"/>
    </p:embeddedFont>
    <p:embeddedFont>
      <p:font typeface="Libre Franklin" pitchFamily="2" charset="0"/>
      <p:regular r:id="rId36"/>
      <p:bold r:id="rId37"/>
      <p:italic r:id="rId38"/>
      <p:boldItalic r:id="rId39"/>
    </p:embeddedFont>
    <p:embeddedFont>
      <p:font typeface="Merriweather" panose="00000500000000000000" pitchFamily="2" charset="0"/>
      <p:regular r:id="rId40"/>
      <p:bold r:id="rId41"/>
      <p:italic r:id="rId42"/>
      <p:boldItalic r:id="rId43"/>
    </p:embeddedFont>
    <p:embeddedFont>
      <p:font typeface="Times" panose="02020603050405020304" pitchFamily="18" charset="0"/>
      <p:regular r:id="rId44"/>
      <p:bold r:id="rId45"/>
      <p:italic r:id="rId46"/>
      <p:boldItalic r:id="rId47"/>
    </p:embeddedFont>
    <p:embeddedFont>
      <p:font typeface="Verdana" panose="020B0604030504040204" pitchFamily="34" charset="0"/>
      <p:regular r:id="rId48"/>
      <p:bold r:id="rId49"/>
      <p:italic r:id="rId50"/>
      <p:boldItalic r:id="rId51"/>
    </p:embeddedFont>
    <p:embeddedFont>
      <p:font typeface="Wingdings 2" panose="05020102010507070707" pitchFamily="18" charset="2"/>
      <p:regular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6" roundtripDataSignature="AMtx7mhZF8FH3ZpelAMzhFcENU5Nvg880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陳詒歆" initials="陳詒歆" lastIdx="1" clrIdx="0">
    <p:extLst>
      <p:ext uri="{19B8F6BF-5375-455C-9EA6-DF929625EA0E}">
        <p15:presenceInfo xmlns:p15="http://schemas.microsoft.com/office/powerpoint/2012/main" userId="陳詒歆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A658C7"/>
    <a:srgbClr val="4A8598"/>
    <a:srgbClr val="C5D7F1"/>
    <a:srgbClr val="CCE0E6"/>
    <a:srgbClr val="D5EAFF"/>
    <a:srgbClr val="97CBFF"/>
    <a:srgbClr val="6699FF"/>
    <a:srgbClr val="557CF7"/>
    <a:srgbClr val="A6CE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E539FD-2DDF-4008-B3C7-C339ECDCE926}">
  <a:tblStyle styleId="{FEE539FD-2DDF-4008-B3C7-C339ECDCE926}" styleName="Table_0">
    <a:wholeTbl>
      <a:tcTxStyle b="off" i="off">
        <a:font>
          <a:latin typeface="Perpetua"/>
          <a:ea typeface="Perpetua"/>
          <a:cs typeface="Perpetua"/>
        </a:font>
        <a:schemeClr val="dk1"/>
      </a:tcTxStyle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Perpetua"/>
          <a:ea typeface="Perpetua"/>
          <a:cs typeface="Perpetua"/>
        </a:font>
        <a:schemeClr val="lt1"/>
      </a:tcTxStyle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24" autoAdjust="0"/>
    <p:restoredTop sz="91971" autoAdjust="0"/>
  </p:normalViewPr>
  <p:slideViewPr>
    <p:cSldViewPr snapToGrid="0">
      <p:cViewPr varScale="1">
        <p:scale>
          <a:sx n="85" d="100"/>
          <a:sy n="85" d="100"/>
        </p:scale>
        <p:origin x="147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font" Target="fonts/font24.fntdata"/><Relationship Id="rId50" Type="http://schemas.openxmlformats.org/officeDocument/2006/relationships/font" Target="fonts/font27.fntdata"/><Relationship Id="rId76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font" Target="fonts/font22.fntdata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font" Target="fonts/font25.fntdata"/><Relationship Id="rId77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font" Target="fonts/font28.fntdata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font" Target="fonts/font23.fntdata"/><Relationship Id="rId20" Type="http://schemas.openxmlformats.org/officeDocument/2006/relationships/slide" Target="slides/slide19.xml"/><Relationship Id="rId41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schemas.openxmlformats.org/officeDocument/2006/relationships/font" Target="fonts/font26.fntdata"/><Relationship Id="rId10" Type="http://schemas.openxmlformats.org/officeDocument/2006/relationships/slide" Target="slides/slide9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52" Type="http://schemas.openxmlformats.org/officeDocument/2006/relationships/font" Target="fonts/font29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baseline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13A4C-A5CA-4969-BE4A-EB59A5ED9643}" type="slidenum">
              <a:rPr lang="zh-TW" altLang="en-US" smtClean="0">
                <a:latin typeface="FangSong" panose="02010609060101010101" pitchFamily="49" charset="-122"/>
              </a:rPr>
              <a:pPr/>
              <a:t>1</a:t>
            </a:fld>
            <a:endParaRPr lang="zh-TW" altLang="en-US" dirty="0">
              <a:latin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5230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</p:txBody>
      </p:sp>
      <p:sp>
        <p:nvSpPr>
          <p:cNvPr id="156" name="Google Shape;156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FangSong" panose="02010609060101010101" pitchFamily="49" charset="-122"/>
              </a:rPr>
              <a:t>2</a:t>
            </a:fld>
            <a:endParaRPr dirty="0">
              <a:latin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0416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</p:txBody>
      </p:sp>
      <p:sp>
        <p:nvSpPr>
          <p:cNvPr id="156" name="Google Shape;156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FangSong" panose="02010609060101010101" pitchFamily="49" charset="-122"/>
              </a:rPr>
              <a:t>3</a:t>
            </a:fld>
            <a:endParaRPr dirty="0">
              <a:latin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1476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</p:txBody>
      </p:sp>
      <p:sp>
        <p:nvSpPr>
          <p:cNvPr id="156" name="Google Shape;156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FangSong" panose="02010609060101010101" pitchFamily="49" charset="-122"/>
              </a:rPr>
              <a:t>4</a:t>
            </a:fld>
            <a:endParaRPr dirty="0">
              <a:latin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2107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This slide gives</a:t>
            </a:r>
            <a:r>
              <a:rPr lang="en-US" baseline="0" dirty="0"/>
              <a:t> you a high-level idea of what my research group has been doing.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aseline="0" dirty="0"/>
              <a:t>Our research touches upon several areas related to visual signal representation, processing and understanding.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aseline="0" dirty="0"/>
              <a:t>For example, we invested a lot in end-to-end learned image/video coding for both 2-D and 3-D images and/or video.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aseline="0" dirty="0"/>
              <a:t>More recently, we look into an interesting and emerging area known as image/video coding for machines.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aseline="0" dirty="0"/>
              <a:t>In the past, image/video coding was designed primarily for human perception.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aseline="0" dirty="0"/>
              <a:t>But, the industry is seeing a rising demand for image/video coding for machine perception.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aseline="0" dirty="0"/>
              <a:t>They want to transmit images or video in a form suitable for various recognition or computer vision tasks.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aseline="0" dirty="0"/>
              <a:t>We also have some works on using </a:t>
            </a:r>
            <a:r>
              <a:rPr lang="en-US" baseline="0" dirty="0" err="1"/>
              <a:t>mmWave</a:t>
            </a:r>
            <a:r>
              <a:rPr lang="en-US" baseline="0" dirty="0"/>
              <a:t> Radars for Human Pose Estimation.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aseline="0" dirty="0"/>
              <a:t>This kind of technology allows human pose estimation to be done in adversarial environments, such as under low-light conditions.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</p:txBody>
      </p:sp>
      <p:sp>
        <p:nvSpPr>
          <p:cNvPr id="156" name="Google Shape;156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FangSong" panose="02010609060101010101" pitchFamily="49" charset="-122"/>
              </a:rPr>
              <a:t>5</a:t>
            </a:fld>
            <a:endParaRPr dirty="0">
              <a:latin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2369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My main conferences are those popular conferences in the field of computer vision</a:t>
            </a:r>
            <a:r>
              <a:rPr lang="en-US" baseline="0" dirty="0"/>
              <a:t> and signal processing, including CVPR, ICCV, ECCV. </a:t>
            </a:r>
          </a:p>
        </p:txBody>
      </p:sp>
      <p:sp>
        <p:nvSpPr>
          <p:cNvPr id="156" name="Google Shape;156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FangSong" panose="02010609060101010101" pitchFamily="49" charset="-122"/>
              </a:rPr>
              <a:t>6</a:t>
            </a:fld>
            <a:endParaRPr dirty="0">
              <a:latin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4372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Notably, our</a:t>
            </a:r>
            <a:r>
              <a:rPr lang="en-US" baseline="0" dirty="0"/>
              <a:t> group used to be a main contributor to this ISO/IEC &amp; ITU-T standards committee.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aseline="0" dirty="0"/>
              <a:t>We have a number of technical proposals adopted into the international standards. </a:t>
            </a:r>
            <a:endParaRPr lang="en-US" dirty="0"/>
          </a:p>
        </p:txBody>
      </p:sp>
      <p:sp>
        <p:nvSpPr>
          <p:cNvPr id="156" name="Google Shape;156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FangSong" panose="02010609060101010101" pitchFamily="49" charset="-122"/>
              </a:rPr>
              <a:t>7</a:t>
            </a:fld>
            <a:endParaRPr dirty="0">
              <a:latin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6785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Also,</a:t>
            </a:r>
            <a:r>
              <a:rPr lang="en-US" baseline="0" dirty="0"/>
              <a:t> my research group has been working with people from around the world.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aseline="0" dirty="0"/>
              <a:t>We publish papers together, apply for joint research projects, and send students to each other’s lab. </a:t>
            </a:r>
            <a:endParaRPr lang="en-US" dirty="0"/>
          </a:p>
        </p:txBody>
      </p:sp>
      <p:sp>
        <p:nvSpPr>
          <p:cNvPr id="156" name="Google Shape;156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FangSong" panose="02010609060101010101" pitchFamily="49" charset="-122"/>
              </a:rPr>
              <a:t>8</a:t>
            </a:fld>
            <a:endParaRPr dirty="0">
              <a:latin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2043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Also,</a:t>
            </a:r>
            <a:r>
              <a:rPr lang="en-US" baseline="0" dirty="0"/>
              <a:t> my research group has been working with people from around the world.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baseline="0" dirty="0"/>
              <a:t>We publish papers together, apply for joint research projects, and send students to each other’s lab. </a:t>
            </a:r>
            <a:endParaRPr lang="en-US" dirty="0"/>
          </a:p>
        </p:txBody>
      </p:sp>
      <p:sp>
        <p:nvSpPr>
          <p:cNvPr id="156" name="Google Shape;156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FangSong" panose="02010609060101010101" pitchFamily="49" charset="-122"/>
              </a:rPr>
              <a:t>9</a:t>
            </a:fld>
            <a:endParaRPr dirty="0">
              <a:latin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8644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baseline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13A4C-A5CA-4969-BE4A-EB59A5ED9643}" type="slidenum">
              <a:rPr lang="zh-TW" altLang="en-US" smtClean="0">
                <a:latin typeface="FangSong" panose="02010609060101010101" pitchFamily="49" charset="-122"/>
              </a:rPr>
              <a:pPr/>
              <a:t>10</a:t>
            </a:fld>
            <a:endParaRPr lang="zh-TW" altLang="en-US" dirty="0">
              <a:latin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5631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>
                <a:latin typeface="Arial" charset="0"/>
              </a:rPr>
              <a:t>End-to-end learned image and video compression </a:t>
            </a:r>
            <a:r>
              <a:rPr lang="en-US" altLang="zh-TW" b="0" dirty="0">
                <a:latin typeface="Arial" charset="0"/>
              </a:rPr>
              <a:t>is </a:t>
            </a:r>
            <a:r>
              <a:rPr lang="en-US" altLang="zh-TW" b="1" dirty="0">
                <a:latin typeface="Arial" charset="0"/>
              </a:rPr>
              <a:t>now a hot research area</a:t>
            </a:r>
            <a:r>
              <a:rPr lang="en-US" altLang="zh-TW" b="1" baseline="0" dirty="0">
                <a:latin typeface="Arial" charset="0"/>
              </a:rPr>
              <a:t>. </a:t>
            </a:r>
            <a:endParaRPr lang="en-US" altLang="zh-TW" b="1" dirty="0">
              <a:latin typeface="Arial" charset="0"/>
            </a:endParaRPr>
          </a:p>
          <a:p>
            <a:r>
              <a:rPr lang="en-US" altLang="zh-TW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The first deep image compression paper appeared in 2017.</a:t>
            </a:r>
            <a:r>
              <a:rPr lang="en-US" altLang="zh-TW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</a:t>
            </a:r>
          </a:p>
          <a:p>
            <a:r>
              <a:rPr lang="en-US" altLang="zh-TW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Since then, </a:t>
            </a:r>
            <a:r>
              <a:rPr lang="en-US" altLang="zh-TW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there have been about </a:t>
            </a:r>
            <a:r>
              <a:rPr lang="en-US" altLang="zh-TW" sz="12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150 papers published </a:t>
            </a:r>
            <a:r>
              <a:rPr lang="en-US" altLang="zh-TW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on this topic. </a:t>
            </a:r>
          </a:p>
          <a:p>
            <a:r>
              <a:rPr lang="en-US" altLang="zh-TW" b="0" baseline="0" dirty="0">
                <a:latin typeface="Arial" charset="0"/>
              </a:rPr>
              <a:t>Most works adopt the </a:t>
            </a:r>
            <a:r>
              <a:rPr lang="en-US" altLang="zh-TW" b="0" baseline="0" dirty="0" err="1">
                <a:latin typeface="Arial" charset="0"/>
              </a:rPr>
              <a:t>autoeocoder</a:t>
            </a:r>
            <a:r>
              <a:rPr lang="en-US" altLang="zh-TW" b="0" baseline="0" dirty="0">
                <a:latin typeface="Arial" charset="0"/>
              </a:rPr>
              <a:t>-based framework with </a:t>
            </a:r>
            <a:r>
              <a:rPr lang="en-US" altLang="zh-TW" b="0" baseline="0" dirty="0" err="1">
                <a:latin typeface="Arial" charset="0"/>
              </a:rPr>
              <a:t>hyperprior</a:t>
            </a:r>
            <a:r>
              <a:rPr lang="en-US" altLang="zh-TW" b="0" baseline="0" dirty="0">
                <a:latin typeface="Arial" charset="0"/>
              </a:rPr>
              <a:t>. </a:t>
            </a:r>
          </a:p>
          <a:p>
            <a:r>
              <a:rPr lang="en-US" altLang="zh-TW" baseline="0" dirty="0">
                <a:latin typeface="Arial" charset="0"/>
              </a:rPr>
              <a:t>In comparison, </a:t>
            </a:r>
            <a:r>
              <a:rPr lang="en-US" altLang="zh-TW" b="1" baseline="0" dirty="0">
                <a:latin typeface="Arial" charset="0"/>
              </a:rPr>
              <a:t>deep video compression </a:t>
            </a:r>
            <a:r>
              <a:rPr lang="en-US" altLang="zh-TW" b="0" baseline="0" dirty="0">
                <a:latin typeface="Arial" charset="0"/>
              </a:rPr>
              <a:t>is still being researched; </a:t>
            </a:r>
          </a:p>
          <a:p>
            <a:r>
              <a:rPr lang="en-US" altLang="zh-TW" b="0" baseline="0" dirty="0">
                <a:latin typeface="Arial" charset="0"/>
              </a:rPr>
              <a:t>Up to now, there have been about </a:t>
            </a:r>
            <a:r>
              <a:rPr lang="en-US" altLang="zh-TW" b="1" baseline="0" dirty="0">
                <a:latin typeface="Arial" charset="0"/>
              </a:rPr>
              <a:t>40 papers </a:t>
            </a:r>
            <a:r>
              <a:rPr lang="en-US" altLang="zh-TW" b="0" baseline="0" dirty="0">
                <a:latin typeface="Arial" charset="0"/>
              </a:rPr>
              <a:t>on deep video compression.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Pixel/feature-domain </a:t>
            </a:r>
            <a:r>
              <a:rPr lang="en-US" sz="2800" dirty="0">
                <a:solidFill>
                  <a:srgbClr val="C00000"/>
                </a:solidFill>
              </a:rPr>
              <a:t>residual </a:t>
            </a:r>
            <a:r>
              <a:rPr lang="en-US" sz="2800" dirty="0"/>
              <a:t>and </a:t>
            </a:r>
            <a:r>
              <a:rPr lang="en-US" sz="2800" dirty="0">
                <a:solidFill>
                  <a:srgbClr val="C00000"/>
                </a:solidFill>
              </a:rPr>
              <a:t>conditional </a:t>
            </a:r>
            <a:r>
              <a:rPr lang="en-US" sz="2800" dirty="0"/>
              <a:t>coding are popular approaches</a:t>
            </a:r>
          </a:p>
          <a:p>
            <a:r>
              <a:rPr lang="en-US" altLang="zh-TW" b="0" baseline="0" dirty="0">
                <a:latin typeface="Arial" charset="0"/>
              </a:rPr>
              <a:t>These numbers are still growing fast. </a:t>
            </a:r>
          </a:p>
          <a:p>
            <a:endParaRPr lang="en-US" altLang="zh-TW" b="0" baseline="0" dirty="0"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B9C01F-8F09-4956-91D3-1F7FBDA581A6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7792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defRPr sz="2400"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1pPr>
            <a:lvl2pPr marL="742950" indent="-285750" defTabSz="989013" eaLnBrk="0" hangingPunct="0">
              <a:defRPr sz="2400"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2pPr>
            <a:lvl3pPr marL="1143000" indent="-228600" defTabSz="989013" eaLnBrk="0" hangingPunct="0">
              <a:defRPr sz="2400"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3pPr>
            <a:lvl4pPr marL="1600200" indent="-228600" defTabSz="989013" eaLnBrk="0" hangingPunct="0">
              <a:defRPr sz="2400"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4pPr>
            <a:lvl5pPr marL="2057400" indent="-228600" defTabSz="989013" eaLnBrk="0" hangingPunct="0">
              <a:defRPr sz="2400"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5pPr>
            <a:lvl6pPr marL="25146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6pPr>
            <a:lvl7pPr marL="29718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7pPr>
            <a:lvl8pPr marL="34290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8pPr>
            <a:lvl9pPr marL="38862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新細明體" charset="-120"/>
              </a:defRPr>
            </a:lvl9pPr>
          </a:lstStyle>
          <a:p>
            <a:pPr eaLnBrk="1" hangingPunct="1"/>
            <a:fld id="{1A64037A-E23B-4F4B-862E-2CACF9D6DC27}" type="slidenum">
              <a:rPr lang="zh-TW" altLang="en-US" sz="1400" smtClean="0"/>
              <a:pPr eaLnBrk="1" hangingPunct="1"/>
              <a:t>12</a:t>
            </a:fld>
            <a:endParaRPr lang="en-US" altLang="zh-TW" sz="14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>
                <a:ea typeface="新細明體" charset="-120"/>
              </a:rPr>
              <a:t>So, </a:t>
            </a:r>
            <a:r>
              <a:rPr lang="en-US" altLang="zh-TW" b="1" dirty="0">
                <a:ea typeface="新細明體" charset="-120"/>
              </a:rPr>
              <a:t>why should</a:t>
            </a:r>
            <a:r>
              <a:rPr lang="en-US" altLang="zh-TW" b="1" baseline="0" dirty="0">
                <a:ea typeface="新細明體" charset="-120"/>
              </a:rPr>
              <a:t> we use NN for compression?</a:t>
            </a:r>
          </a:p>
          <a:p>
            <a:r>
              <a:rPr lang="en-US" altLang="zh-TW" dirty="0">
                <a:ea typeface="新細明體" charset="-120"/>
              </a:rPr>
              <a:t>I think this </a:t>
            </a:r>
            <a:r>
              <a:rPr lang="en-US" altLang="zh-TW" dirty="0" err="1">
                <a:ea typeface="新細明體" charset="-120"/>
              </a:rPr>
              <a:t>NeurIPS</a:t>
            </a:r>
            <a:r>
              <a:rPr lang="en-US" altLang="zh-TW" dirty="0">
                <a:ea typeface="新細明體" charset="-120"/>
              </a:rPr>
              <a:t> 2020 paper from Google gives a clear answer</a:t>
            </a:r>
            <a:r>
              <a:rPr lang="en-US" altLang="zh-TW" baseline="0" dirty="0">
                <a:ea typeface="新細明體" charset="-120"/>
              </a:rPr>
              <a:t>. </a:t>
            </a:r>
          </a:p>
          <a:p>
            <a:r>
              <a:rPr lang="en-US" altLang="zh-TW" baseline="0" dirty="0">
                <a:ea typeface="新細明體" charset="-120"/>
              </a:rPr>
              <a:t>At the same bit rate, you can see that </a:t>
            </a:r>
            <a:r>
              <a:rPr lang="en-US" altLang="zh-TW" b="1" baseline="0" dirty="0">
                <a:ea typeface="新細明體" charset="-120"/>
              </a:rPr>
              <a:t>the learned codec preserve more image detail than the traditional codec. </a:t>
            </a:r>
          </a:p>
          <a:p>
            <a:r>
              <a:rPr lang="en-US" altLang="zh-TW" baseline="0" dirty="0">
                <a:ea typeface="新細明體" charset="-120"/>
              </a:rPr>
              <a:t>We all know that neural networks are good at </a:t>
            </a:r>
            <a:r>
              <a:rPr lang="en-US" altLang="zh-TW" b="1" baseline="0" dirty="0">
                <a:ea typeface="新細明體" charset="-120"/>
              </a:rPr>
              <a:t>synthesizing image detail</a:t>
            </a:r>
            <a:r>
              <a:rPr lang="en-US" altLang="zh-TW" baseline="0" dirty="0">
                <a:ea typeface="新細明體" charset="-120"/>
              </a:rPr>
              <a:t>. </a:t>
            </a:r>
          </a:p>
          <a:p>
            <a:r>
              <a:rPr lang="en-US" altLang="zh-TW" baseline="0" dirty="0">
                <a:ea typeface="新細明體" charset="-120"/>
              </a:rPr>
              <a:t>Moreover, they can be easily adapted </a:t>
            </a:r>
            <a:r>
              <a:rPr lang="en-US" altLang="zh-TW" b="1" baseline="0" dirty="0">
                <a:ea typeface="新細明體" charset="-120"/>
              </a:rPr>
              <a:t>to any differentiable quality metric. </a:t>
            </a:r>
          </a:p>
          <a:p>
            <a:r>
              <a:rPr lang="en-US" altLang="zh-TW" baseline="0" dirty="0">
                <a:ea typeface="新細明體" charset="-120"/>
              </a:rPr>
              <a:t>As such, learned codecs </a:t>
            </a:r>
            <a:r>
              <a:rPr lang="en-US" altLang="zh-TW" b="1" baseline="0" dirty="0">
                <a:ea typeface="新細明體" charset="-120"/>
              </a:rPr>
              <a:t>can find applications in various domains</a:t>
            </a:r>
            <a:r>
              <a:rPr lang="en-US" altLang="zh-TW" baseline="0" dirty="0">
                <a:ea typeface="新細明體" charset="-120"/>
              </a:rPr>
              <a:t>. </a:t>
            </a:r>
          </a:p>
          <a:p>
            <a:endParaRPr lang="en-US" altLang="zh-TW" baseline="0" dirty="0">
              <a:ea typeface="新細明體" charset="-120"/>
            </a:endParaRPr>
          </a:p>
          <a:p>
            <a:endParaRPr lang="zh-TW" altLang="en-US" dirty="0">
              <a:ea typeface="新細明體" charset="-120"/>
            </a:endParaRPr>
          </a:p>
          <a:p>
            <a:endParaRPr lang="en-US" altLang="zh-TW" baseline="0" dirty="0">
              <a:ea typeface="新細明體" charset="-120"/>
            </a:endParaRPr>
          </a:p>
          <a:p>
            <a:endParaRPr lang="zh-TW" altLang="en-US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823317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slide compares the rate-distortion performance of the learned codecs with VVC Intra, which is the best traditional codec.  </a:t>
            </a:r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horizontal axis is bits-per-pixel, and the vertical axis is </a:t>
            </a:r>
            <a:r>
              <a:rPr lang="en-US" altLang="zh-TW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PSNR measured in the RGB domain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 </a:t>
            </a:r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can see that the </a:t>
            </a:r>
            <a:r>
              <a:rPr lang="en-US" altLang="zh-TW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best learned codec now outperforms VVC Intra.</a:t>
            </a:r>
          </a:p>
          <a:p>
            <a:r>
              <a:rPr lang="en-US" altLang="zh-TW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bit rate saving relative to VVC Intra is about 11%. </a:t>
            </a:r>
          </a:p>
          <a:p>
            <a:endParaRPr lang="en-US" altLang="zh-TW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7D5889-AD6B-4EE6-A833-E7CD8AC894AC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3821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baseline="0" dirty="0"/>
              <a:t>In the video domain, the progress of learned video codecs is also very remarkable. </a:t>
            </a:r>
          </a:p>
          <a:p>
            <a:r>
              <a:rPr lang="en-US" baseline="0" dirty="0"/>
              <a:t>In less than 2 years, the coding performance is improved considerably. </a:t>
            </a:r>
          </a:p>
          <a:p>
            <a:r>
              <a:rPr lang="en-US" baseline="0" dirty="0"/>
              <a:t>Here </a:t>
            </a:r>
            <a:r>
              <a:rPr lang="en-US" b="1" baseline="0" dirty="0"/>
              <a:t>the black line corresponds to the rate-distortion performance of VVC. </a:t>
            </a:r>
          </a:p>
          <a:p>
            <a:r>
              <a:rPr lang="en-US" baseline="0" dirty="0"/>
              <a:t>Now, </a:t>
            </a:r>
            <a:r>
              <a:rPr lang="en-US" b="1" baseline="0" dirty="0"/>
              <a:t>there are a number of learned codecs outperforming VVC in terms of PSNR-RGB. 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9C01F-8F09-4956-91D3-1F7FBDA581A6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100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</p:txBody>
      </p:sp>
      <p:sp>
        <p:nvSpPr>
          <p:cNvPr id="156" name="Google Shape;156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FangSong" panose="02010609060101010101" pitchFamily="49" charset="-122"/>
              </a:rPr>
              <a:t>15</a:t>
            </a:fld>
            <a:endParaRPr dirty="0">
              <a:latin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74303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9C01F-8F09-4956-91D3-1F7FBDA581A6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33261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46919e2c9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79550" y="663575"/>
            <a:ext cx="4421188" cy="3316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46919e2c91_0_9:notes"/>
          <p:cNvSpPr txBox="1">
            <a:spLocks noGrp="1"/>
          </p:cNvSpPr>
          <p:nvPr>
            <p:ph type="body" idx="1"/>
          </p:nvPr>
        </p:nvSpPr>
        <p:spPr>
          <a:xfrm>
            <a:off x="738012" y="4201005"/>
            <a:ext cx="5904094" cy="39798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b="0" baseline="0" dirty="0"/>
              <a:t>Here is another example, which shows </a:t>
            </a:r>
            <a:r>
              <a:rPr lang="en-US" altLang="zh-TW" b="1" baseline="0" dirty="0"/>
              <a:t>how flexible the learned codec can be.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b="0" baseline="0" dirty="0"/>
              <a:t>This is our recent work, in which we train a codec that is able to </a:t>
            </a:r>
            <a:r>
              <a:rPr lang="en-US" altLang="zh-TW" b="1" baseline="0" dirty="0"/>
              <a:t>optimize the quality of the decoded image according to different quality metrics.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b="0" baseline="0" dirty="0"/>
              <a:t>Normally, people train separate models using different quality metrics, such as </a:t>
            </a:r>
            <a:r>
              <a:rPr lang="en-US" altLang="zh-TW" b="1" baseline="0" dirty="0"/>
              <a:t>PSNR and LPIPS</a:t>
            </a:r>
            <a:r>
              <a:rPr lang="en-US" altLang="zh-TW" b="0" baseline="0" dirty="0"/>
              <a:t>.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b="0" baseline="0" dirty="0"/>
              <a:t>What is special about our work is that it is able to </a:t>
            </a:r>
            <a:r>
              <a:rPr lang="en-US" altLang="zh-TW" b="1" baseline="0" dirty="0"/>
              <a:t>switch between different quality metrics using only one single network. </a:t>
            </a:r>
          </a:p>
        </p:txBody>
      </p:sp>
    </p:spTree>
    <p:extLst>
      <p:ext uri="{BB962C8B-B14F-4D97-AF65-F5344CB8AC3E}">
        <p14:creationId xmlns:p14="http://schemas.microsoft.com/office/powerpoint/2010/main" val="527914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>
                <a:latin typeface="Arial" charset="0"/>
              </a:rPr>
              <a:t>End-to-end learned image and video compression </a:t>
            </a:r>
            <a:r>
              <a:rPr lang="en-US" altLang="zh-TW" b="0" dirty="0">
                <a:latin typeface="Arial" charset="0"/>
              </a:rPr>
              <a:t>is </a:t>
            </a:r>
            <a:r>
              <a:rPr lang="en-US" altLang="zh-TW" b="1" dirty="0">
                <a:latin typeface="Arial" charset="0"/>
              </a:rPr>
              <a:t>now a hot research area</a:t>
            </a:r>
            <a:r>
              <a:rPr lang="en-US" altLang="zh-TW" b="1" baseline="0" dirty="0">
                <a:latin typeface="Arial" charset="0"/>
              </a:rPr>
              <a:t>. </a:t>
            </a:r>
            <a:endParaRPr lang="en-US" altLang="zh-TW" b="1" dirty="0">
              <a:latin typeface="Arial" charset="0"/>
            </a:endParaRPr>
          </a:p>
          <a:p>
            <a:r>
              <a:rPr lang="en-US" altLang="zh-TW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The first deep image compression paper appeared in 2017.</a:t>
            </a:r>
            <a:r>
              <a:rPr lang="en-US" altLang="zh-TW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</a:t>
            </a:r>
          </a:p>
          <a:p>
            <a:r>
              <a:rPr lang="en-US" altLang="zh-TW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Since then, </a:t>
            </a:r>
            <a:r>
              <a:rPr lang="en-US" altLang="zh-TW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there have been about </a:t>
            </a:r>
            <a:r>
              <a:rPr lang="en-US" altLang="zh-TW" sz="12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150 papers published </a:t>
            </a:r>
            <a:r>
              <a:rPr lang="en-US" altLang="zh-TW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on this topic. </a:t>
            </a:r>
          </a:p>
          <a:p>
            <a:r>
              <a:rPr lang="en-US" altLang="zh-TW" b="0" baseline="0" dirty="0">
                <a:latin typeface="Arial" charset="0"/>
              </a:rPr>
              <a:t>Most works adopt the </a:t>
            </a:r>
            <a:r>
              <a:rPr lang="en-US" altLang="zh-TW" b="0" baseline="0" dirty="0" err="1">
                <a:latin typeface="Arial" charset="0"/>
              </a:rPr>
              <a:t>autoeocoder</a:t>
            </a:r>
            <a:r>
              <a:rPr lang="en-US" altLang="zh-TW" b="0" baseline="0" dirty="0">
                <a:latin typeface="Arial" charset="0"/>
              </a:rPr>
              <a:t>-based framework with </a:t>
            </a:r>
            <a:r>
              <a:rPr lang="en-US" altLang="zh-TW" b="0" baseline="0" dirty="0" err="1">
                <a:latin typeface="Arial" charset="0"/>
              </a:rPr>
              <a:t>hyperprior</a:t>
            </a:r>
            <a:r>
              <a:rPr lang="en-US" altLang="zh-TW" b="0" baseline="0" dirty="0">
                <a:latin typeface="Arial" charset="0"/>
              </a:rPr>
              <a:t>. </a:t>
            </a:r>
          </a:p>
          <a:p>
            <a:r>
              <a:rPr lang="en-US" altLang="zh-TW" baseline="0" dirty="0">
                <a:latin typeface="Arial" charset="0"/>
              </a:rPr>
              <a:t>In comparison, </a:t>
            </a:r>
            <a:r>
              <a:rPr lang="en-US" altLang="zh-TW" b="1" baseline="0" dirty="0">
                <a:latin typeface="Arial" charset="0"/>
              </a:rPr>
              <a:t>deep video compression </a:t>
            </a:r>
            <a:r>
              <a:rPr lang="en-US" altLang="zh-TW" b="0" baseline="0" dirty="0">
                <a:latin typeface="Arial" charset="0"/>
              </a:rPr>
              <a:t>is still being researched; </a:t>
            </a:r>
          </a:p>
          <a:p>
            <a:r>
              <a:rPr lang="en-US" altLang="zh-TW" b="0" baseline="0" dirty="0">
                <a:latin typeface="Arial" charset="0"/>
              </a:rPr>
              <a:t>Up to now, there have been about </a:t>
            </a:r>
            <a:r>
              <a:rPr lang="en-US" altLang="zh-TW" b="1" baseline="0" dirty="0">
                <a:latin typeface="Arial" charset="0"/>
              </a:rPr>
              <a:t>40 papers </a:t>
            </a:r>
            <a:r>
              <a:rPr lang="en-US" altLang="zh-TW" b="0" baseline="0" dirty="0">
                <a:latin typeface="Arial" charset="0"/>
              </a:rPr>
              <a:t>on deep video compression.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Pixel/feature-domain </a:t>
            </a:r>
            <a:r>
              <a:rPr lang="en-US" sz="2800" dirty="0">
                <a:solidFill>
                  <a:srgbClr val="C00000"/>
                </a:solidFill>
              </a:rPr>
              <a:t>residual </a:t>
            </a:r>
            <a:r>
              <a:rPr lang="en-US" sz="2800" dirty="0"/>
              <a:t>and </a:t>
            </a:r>
            <a:r>
              <a:rPr lang="en-US" sz="2800" dirty="0">
                <a:solidFill>
                  <a:srgbClr val="C00000"/>
                </a:solidFill>
              </a:rPr>
              <a:t>conditional </a:t>
            </a:r>
            <a:r>
              <a:rPr lang="en-US" sz="2800" dirty="0"/>
              <a:t>coding are popular approaches</a:t>
            </a:r>
          </a:p>
          <a:p>
            <a:r>
              <a:rPr lang="en-US" altLang="zh-TW" b="0" baseline="0" dirty="0">
                <a:latin typeface="Arial" charset="0"/>
              </a:rPr>
              <a:t>These numbers are still growing fast. </a:t>
            </a:r>
          </a:p>
          <a:p>
            <a:endParaRPr lang="en-US" altLang="zh-TW" b="0" baseline="0" dirty="0"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B9C01F-8F09-4956-91D3-1F7FBDA581A6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4076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</a:t>
            </a:r>
            <a:r>
              <a:rPr lang="en-US" baseline="0" dirty="0"/>
              <a:t> presents the </a:t>
            </a:r>
            <a:r>
              <a:rPr lang="en-US" b="1" baseline="0" dirty="0"/>
              <a:t>RD performance of our video coding scheme. </a:t>
            </a:r>
          </a:p>
          <a:p>
            <a:endParaRPr lang="en-US" baseline="0" dirty="0"/>
          </a:p>
          <a:p>
            <a:r>
              <a:rPr lang="en-US" baseline="0" dirty="0"/>
              <a:t>You can see clearly that </a:t>
            </a:r>
            <a:r>
              <a:rPr lang="en-US" b="1" baseline="0" dirty="0"/>
              <a:t>our scheme outperforms x265 by a significant margin. </a:t>
            </a:r>
          </a:p>
          <a:p>
            <a:endParaRPr lang="en-US" baseline="0" dirty="0"/>
          </a:p>
          <a:p>
            <a:r>
              <a:rPr lang="en-US" baseline="0" dirty="0"/>
              <a:t>Its </a:t>
            </a:r>
            <a:r>
              <a:rPr lang="en-US" b="1" baseline="0" dirty="0"/>
              <a:t>superiority</a:t>
            </a:r>
            <a:r>
              <a:rPr lang="en-US" baseline="0" dirty="0"/>
              <a:t> over the other SOTA baselines is also quite obvious. </a:t>
            </a:r>
          </a:p>
          <a:p>
            <a:endParaRPr lang="en-US" baseline="0" dirty="0"/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9C01F-8F09-4956-91D3-1F7FBDA581A6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90260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</a:t>
            </a:r>
            <a:r>
              <a:rPr lang="en-US" baseline="0" dirty="0"/>
              <a:t> presents the </a:t>
            </a:r>
            <a:r>
              <a:rPr lang="en-US" b="1" baseline="0" dirty="0"/>
              <a:t>RD performance of our video coding scheme. </a:t>
            </a:r>
          </a:p>
          <a:p>
            <a:endParaRPr lang="en-US" baseline="0" dirty="0"/>
          </a:p>
          <a:p>
            <a:r>
              <a:rPr lang="en-US" baseline="0" dirty="0"/>
              <a:t>You can see clearly that </a:t>
            </a:r>
            <a:r>
              <a:rPr lang="en-US" b="1" baseline="0" dirty="0"/>
              <a:t>our scheme outperforms x265 by a significant margin. </a:t>
            </a:r>
          </a:p>
          <a:p>
            <a:endParaRPr lang="en-US" baseline="0" dirty="0"/>
          </a:p>
          <a:p>
            <a:r>
              <a:rPr lang="en-US" baseline="0" dirty="0"/>
              <a:t>Its </a:t>
            </a:r>
            <a:r>
              <a:rPr lang="en-US" b="1" baseline="0" dirty="0"/>
              <a:t>superiority</a:t>
            </a:r>
            <a:r>
              <a:rPr lang="en-US" baseline="0" dirty="0"/>
              <a:t> over the other SOTA baselines is also quite obvious. </a:t>
            </a:r>
          </a:p>
          <a:p>
            <a:endParaRPr lang="en-US" baseline="0" dirty="0"/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9C01F-8F09-4956-91D3-1F7FBDA581A6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38615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B9C01F-8F09-4956-91D3-1F7FBDA581A6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8939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340376" y="-18256"/>
            <a:ext cx="86241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Calibri"/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ftr" idx="11"/>
          </p:nvPr>
        </p:nvSpPr>
        <p:spPr>
          <a:xfrm>
            <a:off x="4158996" y="6226637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1"/>
          </p:nvPr>
        </p:nvSpPr>
        <p:spPr>
          <a:xfrm>
            <a:off x="374904" y="1196752"/>
            <a:ext cx="8589584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935" algn="l">
              <a:spcBef>
                <a:spcPts val="580"/>
              </a:spcBef>
              <a:spcAft>
                <a:spcPts val="0"/>
              </a:spcAft>
              <a:buSzPts val="2210"/>
              <a:buFont typeface="Wingdings" panose="05000000000000000000" pitchFamily="2" charset="2"/>
              <a:buChar char="l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58140" algn="l">
              <a:spcBef>
                <a:spcPts val="370"/>
              </a:spcBef>
              <a:spcAft>
                <a:spcPts val="0"/>
              </a:spcAft>
              <a:buSzPts val="2040"/>
              <a:buFont typeface="Wingdings" panose="05000000000000000000" pitchFamily="2" charset="2"/>
              <a:buChar char="l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6550" algn="l">
              <a:spcBef>
                <a:spcPts val="370"/>
              </a:spcBef>
              <a:spcAft>
                <a:spcPts val="0"/>
              </a:spcAft>
              <a:buClr>
                <a:srgbClr val="C00000"/>
              </a:buClr>
              <a:buSzPts val="1700"/>
              <a:buFont typeface="Wingdings" panose="05000000000000000000" pitchFamily="2" charset="2"/>
              <a:buChar char="l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30200" algn="l">
              <a:spcBef>
                <a:spcPts val="370"/>
              </a:spcBef>
              <a:spcAft>
                <a:spcPts val="0"/>
              </a:spcAft>
              <a:buSzPts val="1600"/>
              <a:buChar char="⚫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55600" algn="l">
              <a:spcBef>
                <a:spcPts val="370"/>
              </a:spcBef>
              <a:spcAft>
                <a:spcPts val="0"/>
              </a:spcAft>
              <a:buSzPts val="2000"/>
              <a:buFont typeface="Calibri"/>
              <a:buChar char="o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lang="en-US" altLang="zh-TW" dirty="0"/>
          </a:p>
          <a:p>
            <a:pPr lvl="1"/>
            <a:endParaRPr lang="en-US" altLang="zh-TW" dirty="0"/>
          </a:p>
          <a:p>
            <a:pPr lvl="2"/>
            <a:endParaRPr dirty="0"/>
          </a:p>
        </p:txBody>
      </p:sp>
      <p:sp>
        <p:nvSpPr>
          <p:cNvPr id="28" name="Google Shape;28;p22"/>
          <p:cNvSpPr>
            <a:spLocks noGrp="1"/>
          </p:cNvSpPr>
          <p:nvPr>
            <p:ph type="sldNum" idx="12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2"/>
          <p:cNvSpPr txBox="1">
            <a:spLocks noGrp="1"/>
          </p:cNvSpPr>
          <p:nvPr>
            <p:ph type="title"/>
          </p:nvPr>
        </p:nvSpPr>
        <p:spPr>
          <a:xfrm rot="5400000">
            <a:off x="4709477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2"/>
          <p:cNvSpPr txBox="1">
            <a:spLocks noGrp="1"/>
          </p:cNvSpPr>
          <p:nvPr>
            <p:ph type="body" idx="1"/>
          </p:nvPr>
        </p:nvSpPr>
        <p:spPr>
          <a:xfrm rot="5400000">
            <a:off x="769937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39" algn="l"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marL="2743200" lvl="5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32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2"/>
          <p:cNvSpPr txBox="1">
            <a:spLocks noGrp="1"/>
          </p:cNvSpPr>
          <p:nvPr>
            <p:ph type="ftr" idx="11"/>
          </p:nvPr>
        </p:nvSpPr>
        <p:spPr>
          <a:xfrm>
            <a:off x="4158996" y="6226637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2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179512" y="1310903"/>
            <a:ext cx="8856984" cy="1470025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rgbClr val="003399"/>
                </a:solidFill>
                <a:effectLst/>
                <a:latin typeface="FangSong" panose="02010609060101010101" pitchFamily="49" charset="-122"/>
                <a:cs typeface="Times New Roman" pitchFamily="18" charset="0"/>
              </a:defRPr>
            </a:lvl1pPr>
          </a:lstStyle>
          <a:p>
            <a:r>
              <a:rPr lang="en-US" altLang="zh-TW" dirty="0"/>
              <a:t>PRESENTATION NAME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2347664" y="2924944"/>
            <a:ext cx="4240560" cy="64807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Times" pitchFamily="18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author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ED11B-AD7D-4980-AF9F-765143B70CAD}" type="datetime1">
              <a:rPr lang="zh-TW" altLang="en-US" smtClean="0"/>
              <a:t>2024/11/11</a:t>
            </a:fld>
            <a:endParaRPr lang="zh-TW" altLang="en-US"/>
          </a:p>
        </p:txBody>
      </p:sp>
      <p:sp>
        <p:nvSpPr>
          <p:cNvPr id="16" name="文字版面配置區 15"/>
          <p:cNvSpPr>
            <a:spLocks noGrp="1"/>
          </p:cNvSpPr>
          <p:nvPr>
            <p:ph type="body" sz="quarter" idx="13" hasCustomPrompt="1"/>
          </p:nvPr>
        </p:nvSpPr>
        <p:spPr>
          <a:xfrm>
            <a:off x="738809" y="188640"/>
            <a:ext cx="7793631" cy="432048"/>
          </a:xfrm>
        </p:spPr>
        <p:txBody>
          <a:bodyPr>
            <a:normAutofit/>
          </a:bodyPr>
          <a:lstStyle>
            <a:lvl1pPr marL="0" indent="0">
              <a:buNone/>
              <a:defRPr lang="en-US" altLang="zh-TW" sz="1800" b="0" i="0" u="none" strike="noStrike" kern="1200" baseline="0" smtClean="0">
                <a:solidFill>
                  <a:schemeClr val="tx1"/>
                </a:solidFill>
                <a:effectLst/>
                <a:latin typeface="Times" pitchFamily="18" charset="0"/>
                <a:cs typeface="Times New Roman" pitchFamily="18" charset="0"/>
              </a:defRPr>
            </a:lvl1pPr>
          </a:lstStyle>
          <a:p>
            <a:r>
              <a:rPr lang="en-US" altLang="zh-TW" sz="1800" dirty="0">
                <a:latin typeface="Times New Roman" pitchFamily="18" charset="0"/>
                <a:cs typeface="Times New Roman" pitchFamily="18" charset="0"/>
              </a:rPr>
              <a:t>Title</a:t>
            </a:r>
            <a:endParaRPr lang="zh-TW" alt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文字版面配置區 17"/>
          <p:cNvSpPr>
            <a:spLocks noGrp="1"/>
          </p:cNvSpPr>
          <p:nvPr>
            <p:ph type="body" sz="quarter" idx="14" hasCustomPrompt="1"/>
          </p:nvPr>
        </p:nvSpPr>
        <p:spPr>
          <a:xfrm>
            <a:off x="2915816" y="4149080"/>
            <a:ext cx="3024337" cy="7207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Times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altLang="zh-TW" dirty="0"/>
              <a:t>Time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179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" name="Google Shape;11;p20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800" b="0" i="0" u="none" strike="noStrike" cap="none" dirty="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" name="Google Shape;12;p20"/>
          <p:cNvSpPr txBox="1">
            <a:spLocks noGrp="1"/>
          </p:cNvSpPr>
          <p:nvPr>
            <p:ph type="title"/>
          </p:nvPr>
        </p:nvSpPr>
        <p:spPr>
          <a:xfrm>
            <a:off x="472008" y="-9939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Calibri"/>
              <a:buNone/>
              <a:defRPr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body" idx="1"/>
          </p:nvPr>
        </p:nvSpPr>
        <p:spPr>
          <a:xfrm>
            <a:off x="544016" y="1233264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935" algn="l" rtl="0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140" algn="l" rtl="0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550" algn="l" rtl="0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Calibri"/>
              <a:buChar char="o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42900" algn="l" rtl="0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42900" algn="l" rtl="0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42900" algn="l" rtl="0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 dirty="0"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158996" y="6226637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6" name="Google Shape;16;p20"/>
          <p:cNvSpPr>
            <a:spLocks noGrp="1"/>
          </p:cNvSpPr>
          <p:nvPr>
            <p:ph type="sldNum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57200" marR="0" lvl="0" indent="-36893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Wingdings" panose="05000000000000000000" pitchFamily="2" charset="2"/>
        <a:buChar char="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5" Type="http://schemas.openxmlformats.org/officeDocument/2006/relationships/hyperlink" Target="https://mapl.cs.nycu.edu.tw/" TargetMode="External"/><Relationship Id="rId4" Type="http://schemas.openxmlformats.org/officeDocument/2006/relationships/hyperlink" Target="mailto:wpeng@cs.nctu.edu.t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ites.google.com/g2.nctu.edu.tw/wpeng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3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4.png"/><Relationship Id="rId32" Type="http://schemas.openxmlformats.org/officeDocument/2006/relationships/image" Target="../media/image32.svg"/><Relationship Id="rId5" Type="http://schemas.openxmlformats.org/officeDocument/2006/relationships/image" Target="../media/image5.pn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31" Type="http://schemas.openxmlformats.org/officeDocument/2006/relationships/image" Target="../media/image31.pn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jpeg"/><Relationship Id="rId30" Type="http://schemas.openxmlformats.org/officeDocument/2006/relationships/image" Target="../media/image30.svg"/><Relationship Id="rId8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3508" y="1614308"/>
            <a:ext cx="8856984" cy="1470025"/>
          </a:xfrm>
        </p:spPr>
        <p:txBody>
          <a:bodyPr>
            <a:normAutofit fontScale="90000"/>
          </a:bodyPr>
          <a:lstStyle/>
          <a:p>
            <a:r>
              <a:rPr lang="en-US" altLang="zh-TW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Multimedia Architecture and Processing Laboratory (MAPL)</a:t>
            </a:r>
            <a:br>
              <a:rPr lang="en-US" altLang="zh-TW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19572" y="3084333"/>
            <a:ext cx="6904856" cy="137022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sz="2400" dirty="0">
                <a:latin typeface="Calibri" panose="020F0502020204030204" pitchFamily="34" charset="0"/>
                <a:ea typeface="標楷體" pitchFamily="65" charset="-120"/>
              </a:rPr>
              <a:t>Dr. Wen-Hsiao Peng</a:t>
            </a:r>
          </a:p>
          <a:p>
            <a:pPr>
              <a:spcBef>
                <a:spcPts val="0"/>
              </a:spcBef>
            </a:pPr>
            <a:r>
              <a:rPr lang="en-US" altLang="zh-TW" sz="2400" dirty="0">
                <a:latin typeface="Calibri" panose="020F0502020204030204" pitchFamily="34" charset="0"/>
                <a:ea typeface="標楷體" pitchFamily="65" charset="-120"/>
                <a:hlinkClick r:id="rId4"/>
              </a:rPr>
              <a:t>wpeng@cs.nctu.edu.tw</a:t>
            </a:r>
            <a:endParaRPr lang="en-US" altLang="zh-TW" sz="2400" dirty="0">
              <a:latin typeface="Calibri" panose="020F0502020204030204" pitchFamily="34" charset="0"/>
              <a:ea typeface="標楷體" pitchFamily="65" charset="-120"/>
            </a:endParaRPr>
          </a:p>
          <a:p>
            <a:pPr>
              <a:spcBef>
                <a:spcPts val="0"/>
              </a:spcBef>
            </a:pPr>
            <a:r>
              <a:rPr lang="en-US" altLang="zh-TW" sz="2400" dirty="0">
                <a:latin typeface="Calibri" panose="020F0502020204030204" pitchFamily="34" charset="0"/>
                <a:ea typeface="標楷體" pitchFamily="65" charset="-120"/>
                <a:hlinkClick r:id="rId5"/>
              </a:rPr>
              <a:t>https://mapl.cs.nycu.edu.tw</a:t>
            </a:r>
            <a:r>
              <a:rPr lang="en-US" altLang="zh-TW" sz="2400" dirty="0">
                <a:latin typeface="Calibri" panose="020F0502020204030204" pitchFamily="34" charset="0"/>
                <a:ea typeface="標楷體" pitchFamily="65" charset="-120"/>
              </a:rPr>
              <a:t> </a:t>
            </a:r>
          </a:p>
          <a:p>
            <a:endParaRPr lang="en-US" altLang="zh-TW" sz="2400" dirty="0">
              <a:latin typeface="Calibri" panose="020F0502020204030204" pitchFamily="34" charset="0"/>
              <a:ea typeface="標楷體" pitchFamily="65" charset="-120"/>
            </a:endParaRPr>
          </a:p>
          <a:p>
            <a:r>
              <a:rPr lang="en-US" altLang="zh-TW" sz="2400" dirty="0">
                <a:latin typeface="Calibri" panose="020F0502020204030204" pitchFamily="34" charset="0"/>
                <a:ea typeface="標楷體" pitchFamily="65" charset="-120"/>
              </a:rPr>
              <a:t>Computer Science Department</a:t>
            </a:r>
          </a:p>
          <a:p>
            <a:r>
              <a:rPr lang="en-US" altLang="zh-TW" sz="2400" dirty="0">
                <a:latin typeface="Calibri" panose="020F0502020204030204" pitchFamily="34" charset="0"/>
                <a:ea typeface="標楷體" pitchFamily="65" charset="-120"/>
              </a:rPr>
              <a:t>National Yang Ming </a:t>
            </a:r>
            <a:r>
              <a:rPr lang="en-US" altLang="zh-TW" sz="2400" dirty="0" err="1">
                <a:latin typeface="Calibri" panose="020F0502020204030204" pitchFamily="34" charset="0"/>
                <a:ea typeface="標楷體" pitchFamily="65" charset="-120"/>
              </a:rPr>
              <a:t>Chiao</a:t>
            </a:r>
            <a:r>
              <a:rPr lang="en-US" altLang="zh-TW" sz="2400" dirty="0">
                <a:latin typeface="Calibri" panose="020F0502020204030204" pitchFamily="34" charset="0"/>
                <a:ea typeface="標楷體" pitchFamily="65" charset="-120"/>
              </a:rPr>
              <a:t> Tung Univ. (NYCU), Taiwan</a:t>
            </a:r>
          </a:p>
          <a:p>
            <a:endParaRPr lang="en-US" altLang="zh-TW" sz="2400" dirty="0">
              <a:latin typeface="Calibri" panose="020F0502020204030204" pitchFamily="34" charset="0"/>
              <a:ea typeface="標楷體" pitchFamily="65" charset="-120"/>
            </a:endParaRPr>
          </a:p>
          <a:p>
            <a:r>
              <a:rPr lang="en-US" altLang="zh-TW" sz="2400" dirty="0">
                <a:latin typeface="Calibri" panose="020F0502020204030204" pitchFamily="34" charset="0"/>
                <a:ea typeface="標楷體" pitchFamily="65" charset="-120"/>
              </a:rPr>
              <a:t>September 19, 2024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4421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>
            <a:spLocks noGrp="1"/>
          </p:cNvSpPr>
          <p:nvPr>
            <p:ph type="title"/>
          </p:nvPr>
        </p:nvSpPr>
        <p:spPr>
          <a:xfrm>
            <a:off x="395536" y="451821"/>
            <a:ext cx="7772400" cy="76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lvl="0"/>
            <a:r>
              <a:rPr lang="en-US" dirty="0"/>
              <a:t>About Me</a:t>
            </a:r>
            <a:endParaRPr dirty="0"/>
          </a:p>
        </p:txBody>
      </p:sp>
      <p:sp>
        <p:nvSpPr>
          <p:cNvPr id="159" name="Google Shape;159;p5"/>
          <p:cNvSpPr txBox="1">
            <a:spLocks noGrp="1"/>
          </p:cNvSpPr>
          <p:nvPr>
            <p:ph type="body" idx="1"/>
          </p:nvPr>
        </p:nvSpPr>
        <p:spPr>
          <a:xfrm>
            <a:off x="440517" y="1239576"/>
            <a:ext cx="8334028" cy="49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defRPr/>
            </a:pPr>
            <a:endParaRPr lang="en-US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defRPr/>
            </a:pPr>
            <a:r>
              <a:rPr lang="en-US" sz="20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Director</a:t>
            </a:r>
            <a:r>
              <a:rPr lang="en-US" sz="2000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Institute of Data Science, NYCU, Taiwan</a:t>
            </a:r>
          </a:p>
          <a:p>
            <a:pPr marL="285750" indent="-28575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Director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Computer Vision Research Center, NYCU ’21-’24</a:t>
            </a:r>
          </a:p>
          <a:p>
            <a:pPr marL="285750" indent="-28575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Associate Director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Joint AI Research Labs, Univ. of Washington, USA and NYCU, Taiwan since ’21</a:t>
            </a:r>
          </a:p>
          <a:p>
            <a:pPr marL="285750" indent="-28575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Visiting Professor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IBM T. J. Watson Research, New York, USA, ’15-’16</a:t>
            </a:r>
          </a:p>
          <a:p>
            <a:pPr marL="285750" indent="-28575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Intel Microprocessor Research Lab, California, USA,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it-IT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00-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it-IT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01</a:t>
            </a:r>
          </a:p>
          <a:p>
            <a:pPr marL="285750" indent="-28575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Delegate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ISO/IEC Moving Picture Experts Group (MPEG), ’04 – Pres.</a:t>
            </a:r>
          </a:p>
          <a:p>
            <a:pPr marL="285750" indent="-28575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Ph.D.,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Institutes of Electronics Engineering, NCTU, Taiwan, ’05</a:t>
            </a:r>
          </a:p>
          <a:p>
            <a:pPr marL="285750" indent="-285750">
              <a:defRPr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0" name="Google Shape;160;p5"/>
          <p:cNvSpPr>
            <a:spLocks noGrp="1"/>
          </p:cNvSpPr>
          <p:nvPr>
            <p:ph type="sldNum" idx="12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712" y="4893267"/>
            <a:ext cx="1508488" cy="151684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5739" y="6037266"/>
            <a:ext cx="76402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(Visit 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  <a:hlinkClick r:id="rId4"/>
              </a:rPr>
              <a:t>https://sites.google.com/g2.nctu.edu.tw/wpeng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for more details)</a:t>
            </a:r>
          </a:p>
        </p:txBody>
      </p:sp>
    </p:spTree>
    <p:extLst>
      <p:ext uri="{BB962C8B-B14F-4D97-AF65-F5344CB8AC3E}">
        <p14:creationId xmlns:p14="http://schemas.microsoft.com/office/powerpoint/2010/main" val="1119581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>
            <a:spLocks noGrp="1"/>
          </p:cNvSpPr>
          <p:nvPr>
            <p:ph type="title"/>
          </p:nvPr>
        </p:nvSpPr>
        <p:spPr>
          <a:xfrm>
            <a:off x="395536" y="451821"/>
            <a:ext cx="7772400" cy="76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lvl="0"/>
            <a:r>
              <a:rPr lang="en-US" dirty="0"/>
              <a:t>Professional Activities in IEEE</a:t>
            </a:r>
            <a:endParaRPr dirty="0"/>
          </a:p>
        </p:txBody>
      </p:sp>
      <p:sp>
        <p:nvSpPr>
          <p:cNvPr id="159" name="Google Shape;159;p5"/>
          <p:cNvSpPr txBox="1">
            <a:spLocks noGrp="1"/>
          </p:cNvSpPr>
          <p:nvPr>
            <p:ph type="body" idx="1"/>
          </p:nvPr>
        </p:nvSpPr>
        <p:spPr>
          <a:xfrm>
            <a:off x="440517" y="1239576"/>
            <a:ext cx="8334028" cy="49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Editor-in-Chief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the IEEE Journal on Emerging and Selected Topics in Circuits and Systems (JETCAS), ’24 – ’25</a:t>
            </a:r>
          </a:p>
          <a:p>
            <a:pPr marL="342900" indent="-34290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Chair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the IEEE CASS Visual Signal Processing and Communications (VSPC) Technical Committee, ’21 – ’22</a:t>
            </a:r>
          </a:p>
          <a:p>
            <a:pPr marL="342900" indent="-34290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Distinguished Lecturer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IEEE CASS, ’22 – ’23; APSIPA, ’17-’18</a:t>
            </a:r>
          </a:p>
          <a:p>
            <a:pPr marL="342900" indent="-34290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Associate Editor-in-Chief/SEB Member/Guest Editor,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IEEE Journal on Emerging and Selected Topics in Circuits and Systems (JETCAS), ’16 – Pres.</a:t>
            </a:r>
            <a:endParaRPr lang="en-US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(Senior) Associate Editor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IEEE Transactions on Circuits and Systems for Video Technology (TCSVT), ’19 – ’20</a:t>
            </a:r>
          </a:p>
          <a:p>
            <a:pPr marL="342900" indent="-34290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Guest Editor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IEEE Transactions on Circuits and Systems II (TCAS-II): Express Briefs, ’19</a:t>
            </a:r>
          </a:p>
          <a:p>
            <a:pPr marL="342900" indent="-34290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Senior Member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the IEEE since ’13</a:t>
            </a:r>
          </a:p>
          <a:p>
            <a:pPr marL="342900" indent="-342900">
              <a:defRPr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Area Chair/Technical Program Chair/Publication Chair/Track Chair/Session Chair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IEEE and APSIPA conferences</a:t>
            </a:r>
          </a:p>
        </p:txBody>
      </p:sp>
      <p:sp>
        <p:nvSpPr>
          <p:cNvPr id="160" name="Google Shape;160;p5"/>
          <p:cNvSpPr>
            <a:spLocks noGrp="1"/>
          </p:cNvSpPr>
          <p:nvPr>
            <p:ph type="sldNum" idx="12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8672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>
            <a:spLocks noGrp="1"/>
          </p:cNvSpPr>
          <p:nvPr>
            <p:ph type="title"/>
          </p:nvPr>
        </p:nvSpPr>
        <p:spPr>
          <a:xfrm>
            <a:off x="395536" y="451821"/>
            <a:ext cx="7772400" cy="76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lvl="0"/>
            <a:r>
              <a:rPr lang="en-US" dirty="0"/>
              <a:t>JETCAS</a:t>
            </a:r>
            <a:endParaRPr dirty="0"/>
          </a:p>
        </p:txBody>
      </p:sp>
      <p:sp>
        <p:nvSpPr>
          <p:cNvPr id="160" name="Google Shape;160;p5"/>
          <p:cNvSpPr>
            <a:spLocks noGrp="1"/>
          </p:cNvSpPr>
          <p:nvPr>
            <p:ph type="sldNum" idx="12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248957"/>
            <a:ext cx="8038846" cy="480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84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>
            <a:spLocks noGrp="1"/>
          </p:cNvSpPr>
          <p:nvPr>
            <p:ph type="title"/>
          </p:nvPr>
        </p:nvSpPr>
        <p:spPr>
          <a:xfrm>
            <a:off x="395535" y="451821"/>
            <a:ext cx="8477531" cy="76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 fontScale="90000"/>
          </a:bodyPr>
          <a:lstStyle/>
          <a:p>
            <a:pPr lvl="0"/>
            <a:r>
              <a:rPr lang="en-US" dirty="0"/>
              <a:t>Visual Signal Representation, Processing and Understanding</a:t>
            </a:r>
            <a:endParaRPr dirty="0"/>
          </a:p>
        </p:txBody>
      </p:sp>
      <p:sp>
        <p:nvSpPr>
          <p:cNvPr id="160" name="Google Shape;160;p5"/>
          <p:cNvSpPr>
            <a:spLocks noGrp="1"/>
          </p:cNvSpPr>
          <p:nvPr>
            <p:ph type="sldNum" idx="12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24311FF5-FD7E-4FD7-880A-629DA08E35E1}"/>
              </a:ext>
            </a:extLst>
          </p:cNvPr>
          <p:cNvGrpSpPr/>
          <p:nvPr/>
        </p:nvGrpSpPr>
        <p:grpSpPr>
          <a:xfrm rot="15099947">
            <a:off x="3274190" y="2646065"/>
            <a:ext cx="2709289" cy="2535415"/>
            <a:chOff x="6321604" y="3907743"/>
            <a:chExt cx="2287795" cy="2140971"/>
          </a:xfrm>
        </p:grpSpPr>
        <p:sp>
          <p:nvSpPr>
            <p:cNvPr id="107" name="等腰三角形 106">
              <a:extLst>
                <a:ext uri="{FF2B5EF4-FFF2-40B4-BE49-F238E27FC236}">
                  <a16:creationId xmlns:a16="http://schemas.microsoft.com/office/drawing/2014/main" id="{4EC0D345-79C3-4429-9722-6A15A1171963}"/>
                </a:ext>
              </a:extLst>
            </p:cNvPr>
            <p:cNvSpPr/>
            <p:nvPr/>
          </p:nvSpPr>
          <p:spPr>
            <a:xfrm rot="8637578">
              <a:off x="6321604" y="3907743"/>
              <a:ext cx="1632255" cy="1133334"/>
            </a:xfrm>
            <a:prstGeom prst="triangle">
              <a:avLst>
                <a:gd name="adj" fmla="val 50065"/>
              </a:avLst>
            </a:prstGeom>
            <a:solidFill>
              <a:srgbClr val="EF8C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等腰三角形 107">
              <a:extLst>
                <a:ext uri="{FF2B5EF4-FFF2-40B4-BE49-F238E27FC236}">
                  <a16:creationId xmlns:a16="http://schemas.microsoft.com/office/drawing/2014/main" id="{70871BE6-E66B-4044-AE2D-CC6E918627EA}"/>
                </a:ext>
              </a:extLst>
            </p:cNvPr>
            <p:cNvSpPr/>
            <p:nvPr/>
          </p:nvSpPr>
          <p:spPr>
            <a:xfrm rot="4315340">
              <a:off x="6111989" y="4540865"/>
              <a:ext cx="1635778" cy="1115877"/>
            </a:xfrm>
            <a:prstGeom prst="triangle">
              <a:avLst>
                <a:gd name="adj" fmla="val 50226"/>
              </a:avLst>
            </a:prstGeom>
            <a:solidFill>
              <a:srgbClr val="9E36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等腰三角形 108">
              <a:extLst>
                <a:ext uri="{FF2B5EF4-FFF2-40B4-BE49-F238E27FC236}">
                  <a16:creationId xmlns:a16="http://schemas.microsoft.com/office/drawing/2014/main" id="{CFEB152D-EF01-4613-A26D-326AFF75D53E}"/>
                </a:ext>
              </a:extLst>
            </p:cNvPr>
            <p:cNvSpPr/>
            <p:nvPr/>
          </p:nvSpPr>
          <p:spPr>
            <a:xfrm>
              <a:off x="6650006" y="4921812"/>
              <a:ext cx="1626959" cy="1126902"/>
            </a:xfrm>
            <a:prstGeom prst="triangle">
              <a:avLst>
                <a:gd name="adj" fmla="val 50226"/>
              </a:avLst>
            </a:prstGeom>
            <a:solidFill>
              <a:srgbClr val="388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等腰三角形 109">
              <a:extLst>
                <a:ext uri="{FF2B5EF4-FFF2-40B4-BE49-F238E27FC236}">
                  <a16:creationId xmlns:a16="http://schemas.microsoft.com/office/drawing/2014/main" id="{D8412122-1328-42CF-BA8A-631F9ED10E05}"/>
                </a:ext>
              </a:extLst>
            </p:cNvPr>
            <p:cNvSpPr/>
            <p:nvPr/>
          </p:nvSpPr>
          <p:spPr>
            <a:xfrm rot="17276362">
              <a:off x="7183168" y="4545742"/>
              <a:ext cx="1632317" cy="1114679"/>
            </a:xfrm>
            <a:prstGeom prst="triangle">
              <a:avLst>
                <a:gd name="adj" fmla="val 49906"/>
              </a:avLst>
            </a:prstGeom>
            <a:solidFill>
              <a:srgbClr val="5BAA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等腰三角形 110">
              <a:extLst>
                <a:ext uri="{FF2B5EF4-FFF2-40B4-BE49-F238E27FC236}">
                  <a16:creationId xmlns:a16="http://schemas.microsoft.com/office/drawing/2014/main" id="{2F1D0CD3-E63A-4023-984C-717EB2195B66}"/>
                </a:ext>
              </a:extLst>
            </p:cNvPr>
            <p:cNvSpPr/>
            <p:nvPr/>
          </p:nvSpPr>
          <p:spPr>
            <a:xfrm rot="12977442">
              <a:off x="6967029" y="3913107"/>
              <a:ext cx="1642370" cy="1123493"/>
            </a:xfrm>
            <a:prstGeom prst="triangle">
              <a:avLst>
                <a:gd name="adj" fmla="val 49308"/>
              </a:avLst>
            </a:prstGeom>
            <a:solidFill>
              <a:srgbClr val="A6C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五邊形 111">
              <a:extLst>
                <a:ext uri="{FF2B5EF4-FFF2-40B4-BE49-F238E27FC236}">
                  <a16:creationId xmlns:a16="http://schemas.microsoft.com/office/drawing/2014/main" id="{27A79F03-E33A-4411-AAB5-14C9696C4127}"/>
                </a:ext>
              </a:extLst>
            </p:cNvPr>
            <p:cNvSpPr/>
            <p:nvPr/>
          </p:nvSpPr>
          <p:spPr>
            <a:xfrm>
              <a:off x="6550418" y="3980156"/>
              <a:ext cx="1805333" cy="1719366"/>
            </a:xfrm>
            <a:prstGeom prst="pentagon">
              <a:avLst/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五邊形 122">
              <a:extLst>
                <a:ext uri="{FF2B5EF4-FFF2-40B4-BE49-F238E27FC236}">
                  <a16:creationId xmlns:a16="http://schemas.microsoft.com/office/drawing/2014/main" id="{D3CA43EA-12F2-4F51-A8D2-803820014415}"/>
                </a:ext>
              </a:extLst>
            </p:cNvPr>
            <p:cNvSpPr/>
            <p:nvPr/>
          </p:nvSpPr>
          <p:spPr>
            <a:xfrm>
              <a:off x="6793447" y="4231210"/>
              <a:ext cx="1329515" cy="1266205"/>
            </a:xfrm>
            <a:prstGeom prst="pentag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2" name="圖形 161" descr="圖片">
            <a:extLst>
              <a:ext uri="{FF2B5EF4-FFF2-40B4-BE49-F238E27FC236}">
                <a16:creationId xmlns:a16="http://schemas.microsoft.com/office/drawing/2014/main" id="{94FF2B92-1F62-4F9F-867F-85B4C4C09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5184" y="2462333"/>
            <a:ext cx="276494" cy="27649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1A0B1066-5C73-4FCD-86E3-E5070F5A2DAA}"/>
              </a:ext>
            </a:extLst>
          </p:cNvPr>
          <p:cNvGrpSpPr/>
          <p:nvPr/>
        </p:nvGrpSpPr>
        <p:grpSpPr>
          <a:xfrm>
            <a:off x="439047" y="2375308"/>
            <a:ext cx="2537435" cy="2000779"/>
            <a:chOff x="438254" y="2425821"/>
            <a:chExt cx="2537435" cy="2000779"/>
          </a:xfrm>
        </p:grpSpPr>
        <p:sp>
          <p:nvSpPr>
            <p:cNvPr id="165" name="文本框 78">
              <a:extLst>
                <a:ext uri="{FF2B5EF4-FFF2-40B4-BE49-F238E27FC236}">
                  <a16:creationId xmlns:a16="http://schemas.microsoft.com/office/drawing/2014/main" id="{EA07A523-6C31-467E-8545-5D19BB81D784}"/>
                </a:ext>
              </a:extLst>
            </p:cNvPr>
            <p:cNvSpPr txBox="1"/>
            <p:nvPr/>
          </p:nvSpPr>
          <p:spPr>
            <a:xfrm>
              <a:off x="856662" y="2482518"/>
              <a:ext cx="21190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b="1" spc="113" dirty="0">
                  <a:solidFill>
                    <a:srgbClr val="A6CE7E"/>
                  </a:solidFill>
                  <a:cs typeface="+mn-ea"/>
                  <a:sym typeface="+mn-lt"/>
                </a:rPr>
                <a:t>Coding for Machine</a:t>
              </a:r>
              <a:endParaRPr lang="zh-CN" altLang="en-US" b="1" spc="113" dirty="0">
                <a:solidFill>
                  <a:srgbClr val="A6CE7E"/>
                </a:solidFill>
                <a:cs typeface="+mn-ea"/>
                <a:sym typeface="+mn-lt"/>
              </a:endParaRPr>
            </a:p>
          </p:txBody>
        </p:sp>
        <p:pic>
          <p:nvPicPr>
            <p:cNvPr id="168" name="圖片 167" descr="一張含有 文字, 哺乳動物, 狗, 螢幕擷取畫面 的圖片&#10;&#10;自動產生的描述">
              <a:extLst>
                <a:ext uri="{FF2B5EF4-FFF2-40B4-BE49-F238E27FC236}">
                  <a16:creationId xmlns:a16="http://schemas.microsoft.com/office/drawing/2014/main" id="{EA209F71-6108-4AB5-9FFA-41538BFFA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1472" y="2907389"/>
              <a:ext cx="2165391" cy="1519211"/>
            </a:xfrm>
            <a:prstGeom prst="rect">
              <a:avLst/>
            </a:prstGeom>
          </p:spPr>
        </p:pic>
        <p:grpSp>
          <p:nvGrpSpPr>
            <p:cNvPr id="250" name="群組 249">
              <a:extLst>
                <a:ext uri="{FF2B5EF4-FFF2-40B4-BE49-F238E27FC236}">
                  <a16:creationId xmlns:a16="http://schemas.microsoft.com/office/drawing/2014/main" id="{BE4999A3-A751-4BFF-98C4-1BD5F3E36853}"/>
                </a:ext>
              </a:extLst>
            </p:cNvPr>
            <p:cNvGrpSpPr/>
            <p:nvPr/>
          </p:nvGrpSpPr>
          <p:grpSpPr>
            <a:xfrm>
              <a:off x="438254" y="2425821"/>
              <a:ext cx="430647" cy="425546"/>
              <a:chOff x="402393" y="2569258"/>
              <a:chExt cx="430647" cy="425546"/>
            </a:xfrm>
          </p:grpSpPr>
          <p:sp>
            <p:nvSpPr>
              <p:cNvPr id="153" name="Rounded Rectangle 71">
                <a:extLst>
                  <a:ext uri="{FF2B5EF4-FFF2-40B4-BE49-F238E27FC236}">
                    <a16:creationId xmlns:a16="http://schemas.microsoft.com/office/drawing/2014/main" id="{70F61418-8299-4C9D-8235-1CF8D6B8AE61}"/>
                  </a:ext>
                </a:extLst>
              </p:cNvPr>
              <p:cNvSpPr/>
              <p:nvPr/>
            </p:nvSpPr>
            <p:spPr>
              <a:xfrm flipH="1">
                <a:off x="414583" y="2571224"/>
                <a:ext cx="418457" cy="418587"/>
              </a:xfrm>
              <a:prstGeom prst="roundRect">
                <a:avLst>
                  <a:gd name="adj" fmla="val 16554"/>
                </a:avLst>
              </a:prstGeom>
              <a:solidFill>
                <a:srgbClr val="A6CE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514350"/>
                <a:endParaRPr lang="en-US" sz="975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  <p:pic>
            <p:nvPicPr>
              <p:cNvPr id="202" name="圖形 201" descr="機器人">
                <a:extLst>
                  <a:ext uri="{FF2B5EF4-FFF2-40B4-BE49-F238E27FC236}">
                    <a16:creationId xmlns:a16="http://schemas.microsoft.com/office/drawing/2014/main" id="{F84C78BE-30CB-4F73-964C-C3A588B3DC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02393" y="2569258"/>
                <a:ext cx="425546" cy="425546"/>
              </a:xfrm>
              <a:prstGeom prst="rect">
                <a:avLst/>
              </a:prstGeom>
            </p:spPr>
          </p:pic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BC2B49-3AED-4CC8-8C91-0597C3ADE016}"/>
              </a:ext>
            </a:extLst>
          </p:cNvPr>
          <p:cNvGrpSpPr/>
          <p:nvPr/>
        </p:nvGrpSpPr>
        <p:grpSpPr>
          <a:xfrm>
            <a:off x="3708955" y="4509140"/>
            <a:ext cx="1646816" cy="404408"/>
            <a:chOff x="3708955" y="4509140"/>
            <a:chExt cx="1646816" cy="404408"/>
          </a:xfrm>
        </p:grpSpPr>
        <p:pic>
          <p:nvPicPr>
            <p:cNvPr id="155" name="圖形 154" descr="步行">
              <a:extLst>
                <a:ext uri="{FF2B5EF4-FFF2-40B4-BE49-F238E27FC236}">
                  <a16:creationId xmlns:a16="http://schemas.microsoft.com/office/drawing/2014/main" id="{7EB38968-3794-4AC0-B874-A7D75E124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032486" y="4543489"/>
              <a:ext cx="323285" cy="323285"/>
            </a:xfrm>
            <a:prstGeom prst="rect">
              <a:avLst/>
            </a:prstGeom>
          </p:spPr>
        </p:pic>
        <p:pic>
          <p:nvPicPr>
            <p:cNvPr id="206" name="圖形 205" descr="圖片">
              <a:extLst>
                <a:ext uri="{FF2B5EF4-FFF2-40B4-BE49-F238E27FC236}">
                  <a16:creationId xmlns:a16="http://schemas.microsoft.com/office/drawing/2014/main" id="{29E1F488-A383-4027-A02B-E980C786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708955" y="4509140"/>
              <a:ext cx="404408" cy="404408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8EB752C-43B4-499A-A0C9-7C6E86BD17D4}"/>
              </a:ext>
            </a:extLst>
          </p:cNvPr>
          <p:cNvGrpSpPr/>
          <p:nvPr/>
        </p:nvGrpSpPr>
        <p:grpSpPr>
          <a:xfrm>
            <a:off x="6135626" y="2321683"/>
            <a:ext cx="2939880" cy="1989596"/>
            <a:chOff x="6135626" y="2321683"/>
            <a:chExt cx="2939880" cy="1989596"/>
          </a:xfrm>
        </p:grpSpPr>
        <p:sp>
          <p:nvSpPr>
            <p:cNvPr id="167" name="文本框 78">
              <a:extLst>
                <a:ext uri="{FF2B5EF4-FFF2-40B4-BE49-F238E27FC236}">
                  <a16:creationId xmlns:a16="http://schemas.microsoft.com/office/drawing/2014/main" id="{DF419C04-C020-42EC-9A09-10E1FE438AD8}"/>
                </a:ext>
              </a:extLst>
            </p:cNvPr>
            <p:cNvSpPr txBox="1"/>
            <p:nvPr/>
          </p:nvSpPr>
          <p:spPr>
            <a:xfrm>
              <a:off x="6568098" y="2321683"/>
              <a:ext cx="25074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spc="113" dirty="0">
                  <a:solidFill>
                    <a:srgbClr val="388BA5"/>
                  </a:solidFill>
                  <a:cs typeface="+mn-ea"/>
                  <a:sym typeface="+mn-lt"/>
                </a:rPr>
                <a:t>3D</a:t>
              </a:r>
              <a:r>
                <a:rPr lang="zh-TW" altLang="en-US" b="1" spc="113" dirty="0">
                  <a:solidFill>
                    <a:srgbClr val="388BA5"/>
                  </a:solidFill>
                  <a:cs typeface="+mn-ea"/>
                  <a:sym typeface="+mn-lt"/>
                </a:rPr>
                <a:t> </a:t>
              </a:r>
              <a:r>
                <a:rPr lang="en-US" altLang="zh-TW" b="1" spc="113" dirty="0">
                  <a:solidFill>
                    <a:srgbClr val="388BA5"/>
                  </a:solidFill>
                  <a:cs typeface="+mn-ea"/>
                  <a:sym typeface="+mn-lt"/>
                </a:rPr>
                <a:t>View </a:t>
              </a:r>
            </a:p>
            <a:p>
              <a:r>
                <a:rPr lang="en-US" altLang="zh-TW" b="1" spc="113" dirty="0">
                  <a:solidFill>
                    <a:srgbClr val="388BA5"/>
                  </a:solidFill>
                  <a:cs typeface="+mn-ea"/>
                  <a:sym typeface="+mn-lt"/>
                </a:rPr>
                <a:t>Rendering &amp; Coding</a:t>
              </a:r>
              <a:endParaRPr lang="zh-CN" altLang="en-US" b="1" spc="113" dirty="0">
                <a:solidFill>
                  <a:srgbClr val="388BA5"/>
                </a:solidFill>
                <a:cs typeface="+mn-ea"/>
                <a:sym typeface="+mn-lt"/>
              </a:endParaRPr>
            </a:p>
          </p:txBody>
        </p:sp>
        <p:pic>
          <p:nvPicPr>
            <p:cNvPr id="148" name="圖片 147">
              <a:extLst>
                <a:ext uri="{FF2B5EF4-FFF2-40B4-BE49-F238E27FC236}">
                  <a16:creationId xmlns:a16="http://schemas.microsoft.com/office/drawing/2014/main" id="{449FCD92-F4F2-4F18-AA4B-F705EE382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135626" y="3011179"/>
              <a:ext cx="2811891" cy="1300100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9094F5E-3E8D-4975-A306-B51946C9693B}"/>
                </a:ext>
              </a:extLst>
            </p:cNvPr>
            <p:cNvGrpSpPr/>
            <p:nvPr/>
          </p:nvGrpSpPr>
          <p:grpSpPr>
            <a:xfrm>
              <a:off x="6156541" y="2374000"/>
              <a:ext cx="418457" cy="418587"/>
              <a:chOff x="6156541" y="2571223"/>
              <a:chExt cx="418457" cy="418587"/>
            </a:xfrm>
          </p:grpSpPr>
          <p:sp>
            <p:nvSpPr>
              <p:cNvPr id="150" name="Rounded Rectangle 43">
                <a:extLst>
                  <a:ext uri="{FF2B5EF4-FFF2-40B4-BE49-F238E27FC236}">
                    <a16:creationId xmlns:a16="http://schemas.microsoft.com/office/drawing/2014/main" id="{5D3A4BC0-3C42-41C4-8B8F-310BC5A43BB7}"/>
                  </a:ext>
                </a:extLst>
              </p:cNvPr>
              <p:cNvSpPr/>
              <p:nvPr/>
            </p:nvSpPr>
            <p:spPr>
              <a:xfrm>
                <a:off x="6156541" y="2571223"/>
                <a:ext cx="418457" cy="418587"/>
              </a:xfrm>
              <a:prstGeom prst="roundRect">
                <a:avLst>
                  <a:gd name="adj" fmla="val 16554"/>
                </a:avLst>
              </a:prstGeom>
              <a:solidFill>
                <a:srgbClr val="388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514350"/>
                <a:endParaRPr lang="en-US" sz="975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  <p:pic>
            <p:nvPicPr>
              <p:cNvPr id="247" name="圖片 246">
                <a:extLst>
                  <a:ext uri="{FF2B5EF4-FFF2-40B4-BE49-F238E27FC236}">
                    <a16:creationId xmlns:a16="http://schemas.microsoft.com/office/drawing/2014/main" id="{37ED8132-9114-45EE-89A6-0BF9D5BCDF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98794" y="2616727"/>
                <a:ext cx="333434" cy="333434"/>
              </a:xfrm>
              <a:prstGeom prst="rect">
                <a:avLst/>
              </a:prstGeom>
            </p:spPr>
          </p:pic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A07D22C-8E54-42D7-9F7E-D6380171EDF6}"/>
              </a:ext>
            </a:extLst>
          </p:cNvPr>
          <p:cNvGrpSpPr/>
          <p:nvPr/>
        </p:nvGrpSpPr>
        <p:grpSpPr>
          <a:xfrm>
            <a:off x="3399315" y="2721902"/>
            <a:ext cx="2384982" cy="1130753"/>
            <a:chOff x="3399315" y="2721902"/>
            <a:chExt cx="2384982" cy="1130753"/>
          </a:xfrm>
        </p:grpSpPr>
        <p:pic>
          <p:nvPicPr>
            <p:cNvPr id="246" name="圖片 245">
              <a:extLst>
                <a:ext uri="{FF2B5EF4-FFF2-40B4-BE49-F238E27FC236}">
                  <a16:creationId xmlns:a16="http://schemas.microsoft.com/office/drawing/2014/main" id="{7FB25A23-D4B0-4839-894F-3CEF3C9B3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358751" y="3417908"/>
              <a:ext cx="425546" cy="425546"/>
            </a:xfrm>
            <a:prstGeom prst="rect">
              <a:avLst/>
            </a:prstGeom>
          </p:spPr>
        </p:pic>
        <p:pic>
          <p:nvPicPr>
            <p:cNvPr id="260" name="圖形 259" descr="機器人">
              <a:extLst>
                <a:ext uri="{FF2B5EF4-FFF2-40B4-BE49-F238E27FC236}">
                  <a16:creationId xmlns:a16="http://schemas.microsoft.com/office/drawing/2014/main" id="{F177CFA1-9076-474E-B717-756A658CB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99315" y="3427109"/>
              <a:ext cx="425546" cy="425546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D037353-19ED-413A-8A3D-CB5B1CCD7C18}"/>
                </a:ext>
              </a:extLst>
            </p:cNvPr>
            <p:cNvGrpSpPr/>
            <p:nvPr/>
          </p:nvGrpSpPr>
          <p:grpSpPr>
            <a:xfrm>
              <a:off x="4293195" y="2721902"/>
              <a:ext cx="574886" cy="530451"/>
              <a:chOff x="4320104" y="2898549"/>
              <a:chExt cx="614885" cy="567358"/>
            </a:xfrm>
          </p:grpSpPr>
          <p:grpSp>
            <p:nvGrpSpPr>
              <p:cNvPr id="228" name="群組 227">
                <a:extLst>
                  <a:ext uri="{FF2B5EF4-FFF2-40B4-BE49-F238E27FC236}">
                    <a16:creationId xmlns:a16="http://schemas.microsoft.com/office/drawing/2014/main" id="{48D545F7-FF32-440E-8F30-0E8A456587AB}"/>
                  </a:ext>
                </a:extLst>
              </p:cNvPr>
              <p:cNvGrpSpPr/>
              <p:nvPr/>
            </p:nvGrpSpPr>
            <p:grpSpPr>
              <a:xfrm>
                <a:off x="4320104" y="2898549"/>
                <a:ext cx="614885" cy="567358"/>
                <a:chOff x="4597842" y="2897002"/>
                <a:chExt cx="404508" cy="373242"/>
              </a:xfrm>
              <a:solidFill>
                <a:schemeClr val="tx1"/>
              </a:solidFill>
            </p:grpSpPr>
            <p:pic>
              <p:nvPicPr>
                <p:cNvPr id="217" name="圖形 216" descr="監視器">
                  <a:extLst>
                    <a:ext uri="{FF2B5EF4-FFF2-40B4-BE49-F238E27FC236}">
                      <a16:creationId xmlns:a16="http://schemas.microsoft.com/office/drawing/2014/main" id="{206ECEED-252B-4390-81BB-9E382D1003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21640" y="2897002"/>
                  <a:ext cx="280710" cy="280710"/>
                </a:xfrm>
                <a:prstGeom prst="rect">
                  <a:avLst/>
                </a:prstGeom>
              </p:spPr>
            </p:pic>
            <p:grpSp>
              <p:nvGrpSpPr>
                <p:cNvPr id="225" name="群組 224">
                  <a:extLst>
                    <a:ext uri="{FF2B5EF4-FFF2-40B4-BE49-F238E27FC236}">
                      <a16:creationId xmlns:a16="http://schemas.microsoft.com/office/drawing/2014/main" id="{ED549363-1E7D-42D5-B3E3-1EBD6F469CF7}"/>
                    </a:ext>
                  </a:extLst>
                </p:cNvPr>
                <p:cNvGrpSpPr/>
                <p:nvPr/>
              </p:nvGrpSpPr>
              <p:grpSpPr>
                <a:xfrm>
                  <a:off x="4597842" y="3117027"/>
                  <a:ext cx="351663" cy="134909"/>
                  <a:chOff x="4509870" y="3228567"/>
                  <a:chExt cx="446884" cy="171439"/>
                </a:xfrm>
                <a:grpFill/>
              </p:grpSpPr>
              <p:pic>
                <p:nvPicPr>
                  <p:cNvPr id="215" name="圖形 214" descr="智慧型手機">
                    <a:extLst>
                      <a:ext uri="{FF2B5EF4-FFF2-40B4-BE49-F238E27FC236}">
                        <a16:creationId xmlns:a16="http://schemas.microsoft.com/office/drawing/2014/main" id="{28F6FA69-2719-488C-A0CE-DB41859CB2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09870" y="3228567"/>
                    <a:ext cx="167270" cy="167269"/>
                  </a:xfrm>
                  <a:prstGeom prst="rect">
                    <a:avLst/>
                  </a:prstGeom>
                </p:spPr>
              </p:pic>
              <p:pic>
                <p:nvPicPr>
                  <p:cNvPr id="221" name="圖形 220" descr="圖片">
                    <a:extLst>
                      <a:ext uri="{FF2B5EF4-FFF2-40B4-BE49-F238E27FC236}">
                        <a16:creationId xmlns:a16="http://schemas.microsoft.com/office/drawing/2014/main" id="{30B058E6-61A1-4D1F-9C06-AA083CBE81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840893" y="3284145"/>
                    <a:ext cx="115861" cy="11586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27" name="圖形 226" descr="箭號 (逆時針曲線)">
                  <a:extLst>
                    <a:ext uri="{FF2B5EF4-FFF2-40B4-BE49-F238E27FC236}">
                      <a16:creationId xmlns:a16="http://schemas.microsoft.com/office/drawing/2014/main" id="{203FFF26-A01E-44D7-88F9-53832DE10F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 rot="4029466">
                  <a:off x="4701436" y="3116381"/>
                  <a:ext cx="153863" cy="153863"/>
                </a:xfrm>
                <a:prstGeom prst="rect">
                  <a:avLst/>
                </a:prstGeom>
              </p:spPr>
            </p:pic>
          </p:grpSp>
          <p:pic>
            <p:nvPicPr>
              <p:cNvPr id="55" name="圖形 226" descr="箭號 (逆時針曲線)">
                <a:extLst>
                  <a:ext uri="{FF2B5EF4-FFF2-40B4-BE49-F238E27FC236}">
                    <a16:creationId xmlns:a16="http://schemas.microsoft.com/office/drawing/2014/main" id="{0BDBEBF1-528B-45B0-8BFE-743B96E08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 rot="14333777">
                <a:off x="4356008" y="3014133"/>
                <a:ext cx="233884" cy="233884"/>
              </a:xfrm>
              <a:prstGeom prst="rect">
                <a:avLst/>
              </a:prstGeom>
            </p:spPr>
          </p:pic>
          <p:pic>
            <p:nvPicPr>
              <p:cNvPr id="56" name="圖形 220" descr="圖片">
                <a:extLst>
                  <a:ext uri="{FF2B5EF4-FFF2-40B4-BE49-F238E27FC236}">
                    <a16:creationId xmlns:a16="http://schemas.microsoft.com/office/drawing/2014/main" id="{0B0D28B8-56DA-4773-9791-2025CF8264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4340973" y="2945883"/>
                <a:ext cx="138591" cy="138591"/>
              </a:xfrm>
              <a:prstGeom prst="rect">
                <a:avLst/>
              </a:prstGeom>
            </p:spPr>
          </p:pic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EF73E39-47A2-4FDE-92BC-B9EF7E13F5E4}"/>
              </a:ext>
            </a:extLst>
          </p:cNvPr>
          <p:cNvGrpSpPr/>
          <p:nvPr/>
        </p:nvGrpSpPr>
        <p:grpSpPr>
          <a:xfrm>
            <a:off x="6152736" y="4709347"/>
            <a:ext cx="2975742" cy="1984764"/>
            <a:chOff x="6152736" y="4709347"/>
            <a:chExt cx="2975742" cy="198476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BE63EB5-2DCF-4C5B-B78B-92BD394B4E15}"/>
                </a:ext>
              </a:extLst>
            </p:cNvPr>
            <p:cNvGrpSpPr/>
            <p:nvPr/>
          </p:nvGrpSpPr>
          <p:grpSpPr>
            <a:xfrm>
              <a:off x="6152736" y="4709347"/>
              <a:ext cx="2975742" cy="523220"/>
              <a:chOff x="6152736" y="4705339"/>
              <a:chExt cx="2975742" cy="523220"/>
            </a:xfrm>
          </p:grpSpPr>
          <p:sp>
            <p:nvSpPr>
              <p:cNvPr id="137" name="文本框 78">
                <a:extLst>
                  <a:ext uri="{FF2B5EF4-FFF2-40B4-BE49-F238E27FC236}">
                    <a16:creationId xmlns:a16="http://schemas.microsoft.com/office/drawing/2014/main" id="{3F0A9D59-B3C9-4EFF-908E-B40D86A21725}"/>
                  </a:ext>
                </a:extLst>
              </p:cNvPr>
              <p:cNvSpPr txBox="1"/>
              <p:nvPr/>
            </p:nvSpPr>
            <p:spPr>
              <a:xfrm>
                <a:off x="6559476" y="4705339"/>
                <a:ext cx="25690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spc="113" dirty="0">
                    <a:solidFill>
                      <a:srgbClr val="9E3611"/>
                    </a:solidFill>
                    <a:cs typeface="+mn-ea"/>
                    <a:sym typeface="+mn-lt"/>
                  </a:rPr>
                  <a:t>Radar-based</a:t>
                </a:r>
              </a:p>
              <a:p>
                <a:r>
                  <a:rPr lang="en-US" altLang="zh-CN" b="1" spc="113" dirty="0">
                    <a:solidFill>
                      <a:srgbClr val="9E3611"/>
                    </a:solidFill>
                    <a:cs typeface="+mn-ea"/>
                    <a:sym typeface="+mn-lt"/>
                  </a:rPr>
                  <a:t>Human Pose Estimation</a:t>
                </a:r>
                <a:endParaRPr lang="zh-CN" altLang="en-US" b="1" spc="113" dirty="0">
                  <a:solidFill>
                    <a:srgbClr val="9E3611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71C1E6E-70B3-449B-AA8C-03C486587082}"/>
                  </a:ext>
                </a:extLst>
              </p:cNvPr>
              <p:cNvGrpSpPr/>
              <p:nvPr/>
            </p:nvGrpSpPr>
            <p:grpSpPr>
              <a:xfrm>
                <a:off x="6152736" y="4757656"/>
                <a:ext cx="418457" cy="418587"/>
                <a:chOff x="6161358" y="4765672"/>
                <a:chExt cx="418457" cy="418587"/>
              </a:xfrm>
            </p:grpSpPr>
            <p:grpSp>
              <p:nvGrpSpPr>
                <p:cNvPr id="95" name="群組 94">
                  <a:extLst>
                    <a:ext uri="{FF2B5EF4-FFF2-40B4-BE49-F238E27FC236}">
                      <a16:creationId xmlns:a16="http://schemas.microsoft.com/office/drawing/2014/main" id="{6FE32A2C-CB6B-49AB-A6EF-9298311A9BA3}"/>
                    </a:ext>
                  </a:extLst>
                </p:cNvPr>
                <p:cNvGrpSpPr/>
                <p:nvPr/>
              </p:nvGrpSpPr>
              <p:grpSpPr>
                <a:xfrm>
                  <a:off x="6161358" y="4765672"/>
                  <a:ext cx="418457" cy="418587"/>
                  <a:chOff x="7945389" y="5292759"/>
                  <a:chExt cx="418457" cy="418587"/>
                </a:xfrm>
                <a:solidFill>
                  <a:srgbClr val="9E3611"/>
                </a:solidFill>
              </p:grpSpPr>
              <p:sp>
                <p:nvSpPr>
                  <p:cNvPr id="136" name="Rounded Rectangle 72">
                    <a:extLst>
                      <a:ext uri="{FF2B5EF4-FFF2-40B4-BE49-F238E27FC236}">
                        <a16:creationId xmlns:a16="http://schemas.microsoft.com/office/drawing/2014/main" id="{86DE532E-E617-4FF9-9FE0-21196F890288}"/>
                      </a:ext>
                    </a:extLst>
                  </p:cNvPr>
                  <p:cNvSpPr/>
                  <p:nvPr/>
                </p:nvSpPr>
                <p:spPr>
                  <a:xfrm flipH="1">
                    <a:off x="7945389" y="5292759"/>
                    <a:ext cx="418457" cy="418587"/>
                  </a:xfrm>
                  <a:prstGeom prst="roundRect">
                    <a:avLst>
                      <a:gd name="adj" fmla="val 16554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 defTabSz="514350"/>
                    <a:endParaRPr lang="en-US" sz="975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  <p:pic>
                <p:nvPicPr>
                  <p:cNvPr id="139" name="圖形 138" descr="步行">
                    <a:extLst>
                      <a:ext uri="{FF2B5EF4-FFF2-40B4-BE49-F238E27FC236}">
                        <a16:creationId xmlns:a16="http://schemas.microsoft.com/office/drawing/2014/main" id="{56144038-7D1F-4794-ABB1-A34AF26630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2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992974" y="5335485"/>
                    <a:ext cx="323285" cy="323285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81" name="圖形 180" descr="步行">
                  <a:extLst>
                    <a:ext uri="{FF2B5EF4-FFF2-40B4-BE49-F238E27FC236}">
                      <a16:creationId xmlns:a16="http://schemas.microsoft.com/office/drawing/2014/main" id="{5027293B-B065-4DF8-9C6F-F4DFBD298E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00472" y="4808396"/>
                  <a:ext cx="323285" cy="323285"/>
                </a:xfrm>
                <a:prstGeom prst="rect">
                  <a:avLst/>
                </a:prstGeom>
              </p:spPr>
            </p:pic>
          </p:grpSp>
        </p:grp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D24B5EC5-E1F7-4CB6-B9E0-CE783D3CD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425758" y="5228559"/>
              <a:ext cx="1950934" cy="1465552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7272998-0D92-45B4-B583-6824E3D91F8D}"/>
              </a:ext>
            </a:extLst>
          </p:cNvPr>
          <p:cNvGrpSpPr/>
          <p:nvPr/>
        </p:nvGrpSpPr>
        <p:grpSpPr>
          <a:xfrm>
            <a:off x="444349" y="4709347"/>
            <a:ext cx="3065698" cy="2047591"/>
            <a:chOff x="444349" y="4709347"/>
            <a:chExt cx="3065698" cy="2047591"/>
          </a:xfrm>
        </p:grpSpPr>
        <p:pic>
          <p:nvPicPr>
            <p:cNvPr id="170" name="Picture 8" descr="Joint Face Hallucination and Deblurring via Structure Generation and Detail  Enhancement | SpringerLink">
              <a:extLst>
                <a:ext uri="{FF2B5EF4-FFF2-40B4-BE49-F238E27FC236}">
                  <a16:creationId xmlns:a16="http://schemas.microsoft.com/office/drawing/2014/main" id="{CD197D81-D4FA-4444-836F-925B6E5E587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505"/>
            <a:stretch/>
          </p:blipFill>
          <p:spPr bwMode="auto">
            <a:xfrm>
              <a:off x="776227" y="5323501"/>
              <a:ext cx="2345007" cy="618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438330A-5733-493F-B488-C9C9BFE82785}"/>
                </a:ext>
              </a:extLst>
            </p:cNvPr>
            <p:cNvGrpSpPr/>
            <p:nvPr/>
          </p:nvGrpSpPr>
          <p:grpSpPr>
            <a:xfrm>
              <a:off x="444349" y="4709347"/>
              <a:ext cx="3065698" cy="523220"/>
              <a:chOff x="444349" y="4713355"/>
              <a:chExt cx="3065698" cy="523220"/>
            </a:xfrm>
          </p:grpSpPr>
          <p:sp>
            <p:nvSpPr>
              <p:cNvPr id="166" name="文本框 78">
                <a:extLst>
                  <a:ext uri="{FF2B5EF4-FFF2-40B4-BE49-F238E27FC236}">
                    <a16:creationId xmlns:a16="http://schemas.microsoft.com/office/drawing/2014/main" id="{0A0D9F80-A981-49D3-9362-1F76DEDF0773}"/>
                  </a:ext>
                </a:extLst>
              </p:cNvPr>
              <p:cNvSpPr txBox="1"/>
              <p:nvPr/>
            </p:nvSpPr>
            <p:spPr>
              <a:xfrm>
                <a:off x="856662" y="4713355"/>
                <a:ext cx="26533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spc="113" dirty="0">
                    <a:solidFill>
                      <a:srgbClr val="EF8C6A"/>
                    </a:solidFill>
                    <a:cs typeface="+mn-ea"/>
                    <a:sym typeface="+mn-lt"/>
                  </a:rPr>
                  <a:t>Image/Video </a:t>
                </a:r>
              </a:p>
              <a:p>
                <a:r>
                  <a:rPr lang="en-US" altLang="zh-TW" b="1" spc="113" dirty="0">
                    <a:solidFill>
                      <a:srgbClr val="EF8C6A"/>
                    </a:solidFill>
                    <a:cs typeface="+mn-ea"/>
                    <a:sym typeface="+mn-lt"/>
                  </a:rPr>
                  <a:t>Quality Enhancement</a:t>
                </a:r>
                <a:endParaRPr lang="zh-CN" altLang="en-US" b="1" spc="113" dirty="0">
                  <a:solidFill>
                    <a:srgbClr val="EF8C6A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248" name="群組 247">
                <a:extLst>
                  <a:ext uri="{FF2B5EF4-FFF2-40B4-BE49-F238E27FC236}">
                    <a16:creationId xmlns:a16="http://schemas.microsoft.com/office/drawing/2014/main" id="{2D95843D-B69B-4A08-9A14-17F5A46C8379}"/>
                  </a:ext>
                </a:extLst>
              </p:cNvPr>
              <p:cNvGrpSpPr/>
              <p:nvPr/>
            </p:nvGrpSpPr>
            <p:grpSpPr>
              <a:xfrm>
                <a:off x="444349" y="4765672"/>
                <a:ext cx="418457" cy="418587"/>
                <a:chOff x="414583" y="4737346"/>
                <a:chExt cx="418457" cy="418587"/>
              </a:xfrm>
              <a:solidFill>
                <a:srgbClr val="EF8C6A"/>
              </a:solidFill>
            </p:grpSpPr>
            <p:sp>
              <p:nvSpPr>
                <p:cNvPr id="152" name="Rounded Rectangle 70">
                  <a:extLst>
                    <a:ext uri="{FF2B5EF4-FFF2-40B4-BE49-F238E27FC236}">
                      <a16:creationId xmlns:a16="http://schemas.microsoft.com/office/drawing/2014/main" id="{A89FBC6D-B020-4BA9-B2CC-F3FAC1D97DCC}"/>
                    </a:ext>
                  </a:extLst>
                </p:cNvPr>
                <p:cNvSpPr/>
                <p:nvPr/>
              </p:nvSpPr>
              <p:spPr>
                <a:xfrm flipH="1">
                  <a:off x="414583" y="4737346"/>
                  <a:ext cx="418457" cy="418587"/>
                </a:xfrm>
                <a:prstGeom prst="roundRect">
                  <a:avLst>
                    <a:gd name="adj" fmla="val 16554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 defTabSz="514350"/>
                  <a:endParaRPr lang="en-AU" sz="975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pic>
              <p:nvPicPr>
                <p:cNvPr id="205" name="圖形 204" descr="圖片">
                  <a:extLst>
                    <a:ext uri="{FF2B5EF4-FFF2-40B4-BE49-F238E27FC236}">
                      <a16:creationId xmlns:a16="http://schemas.microsoft.com/office/drawing/2014/main" id="{6B0AFB46-A50E-4967-AA50-40B68D3C20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2821" y="4780834"/>
                  <a:ext cx="321979" cy="321979"/>
                </a:xfrm>
                <a:prstGeom prst="rect">
                  <a:avLst/>
                </a:prstGeom>
              </p:spPr>
            </p:pic>
          </p:grp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4670DBA-689E-45F2-80C0-56309577A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76618" y="5942381"/>
              <a:ext cx="2393543" cy="814557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83E8AE4-A902-431A-86A8-F6F2ED4B6788}"/>
              </a:ext>
            </a:extLst>
          </p:cNvPr>
          <p:cNvSpPr txBox="1"/>
          <p:nvPr/>
        </p:nvSpPr>
        <p:spPr>
          <a:xfrm>
            <a:off x="4427569" y="377036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+</a:t>
            </a:r>
            <a:endParaRPr lang="zh-TW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EB34C5-00F3-48D0-BD91-F3FC675446F1}"/>
              </a:ext>
            </a:extLst>
          </p:cNvPr>
          <p:cNvSpPr txBox="1"/>
          <p:nvPr/>
        </p:nvSpPr>
        <p:spPr>
          <a:xfrm>
            <a:off x="3907395" y="3361583"/>
            <a:ext cx="13292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70C0"/>
                </a:solidFill>
              </a:rPr>
              <a:t>Learned</a:t>
            </a:r>
          </a:p>
          <a:p>
            <a:r>
              <a:rPr lang="en-US" altLang="zh-TW" b="1" dirty="0">
                <a:solidFill>
                  <a:srgbClr val="0070C0"/>
                </a:solidFill>
              </a:rPr>
              <a:t>Compression</a:t>
            </a:r>
            <a:endParaRPr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BC515A-065D-4B35-BE80-0A3AA26EBE5F}"/>
              </a:ext>
            </a:extLst>
          </p:cNvPr>
          <p:cNvSpPr txBox="1"/>
          <p:nvPr/>
        </p:nvSpPr>
        <p:spPr>
          <a:xfrm>
            <a:off x="3980198" y="3955086"/>
            <a:ext cx="1183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</a:rPr>
              <a:t>Signal Processing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DAE5C3-DCC3-4F8B-AC18-6146541F6263}"/>
              </a:ext>
            </a:extLst>
          </p:cNvPr>
          <p:cNvGrpSpPr/>
          <p:nvPr/>
        </p:nvGrpSpPr>
        <p:grpSpPr>
          <a:xfrm>
            <a:off x="2593076" y="1099300"/>
            <a:ext cx="4104832" cy="1277862"/>
            <a:chOff x="2593076" y="1099300"/>
            <a:chExt cx="4104832" cy="1277862"/>
          </a:xfrm>
        </p:grpSpPr>
        <p:sp>
          <p:nvSpPr>
            <p:cNvPr id="164" name="文本框 78">
              <a:extLst>
                <a:ext uri="{FF2B5EF4-FFF2-40B4-BE49-F238E27FC236}">
                  <a16:creationId xmlns:a16="http://schemas.microsoft.com/office/drawing/2014/main" id="{52F55FA5-B3F0-46EF-9BE0-AF5C47200856}"/>
                </a:ext>
              </a:extLst>
            </p:cNvPr>
            <p:cNvSpPr txBox="1"/>
            <p:nvPr/>
          </p:nvSpPr>
          <p:spPr>
            <a:xfrm>
              <a:off x="3087094" y="1158275"/>
              <a:ext cx="3610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b="1" spc="113" dirty="0">
                  <a:solidFill>
                    <a:srgbClr val="5BAAA4"/>
                  </a:solidFill>
                  <a:cs typeface="+mn-ea"/>
                  <a:sym typeface="+mn-lt"/>
                </a:rPr>
                <a:t>Learned Image/Video Compression</a:t>
              </a:r>
              <a:endParaRPr lang="zh-CN" altLang="en-US" b="1" spc="113" dirty="0">
                <a:solidFill>
                  <a:srgbClr val="5BAAA4"/>
                </a:solidFill>
                <a:cs typeface="+mn-ea"/>
                <a:sym typeface="+mn-lt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BCD56D8-DAA4-48DF-9523-13FE87991B2F}"/>
                </a:ext>
              </a:extLst>
            </p:cNvPr>
            <p:cNvGrpSpPr/>
            <p:nvPr/>
          </p:nvGrpSpPr>
          <p:grpSpPr>
            <a:xfrm>
              <a:off x="2628896" y="1099300"/>
              <a:ext cx="418457" cy="418587"/>
              <a:chOff x="2678108" y="1068487"/>
              <a:chExt cx="418457" cy="418587"/>
            </a:xfrm>
          </p:grpSpPr>
          <p:sp>
            <p:nvSpPr>
              <p:cNvPr id="151" name="Rounded Rectangle 44">
                <a:extLst>
                  <a:ext uri="{FF2B5EF4-FFF2-40B4-BE49-F238E27FC236}">
                    <a16:creationId xmlns:a16="http://schemas.microsoft.com/office/drawing/2014/main" id="{584F12C0-D52E-4105-BA0C-9C5B46D25478}"/>
                  </a:ext>
                </a:extLst>
              </p:cNvPr>
              <p:cNvSpPr/>
              <p:nvPr/>
            </p:nvSpPr>
            <p:spPr>
              <a:xfrm>
                <a:off x="2678108" y="1068487"/>
                <a:ext cx="418457" cy="418587"/>
              </a:xfrm>
              <a:prstGeom prst="roundRect">
                <a:avLst>
                  <a:gd name="adj" fmla="val 16554"/>
                </a:avLst>
              </a:prstGeom>
              <a:solidFill>
                <a:srgbClr val="5BAA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514350"/>
                <a:endParaRPr lang="en-US" sz="975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713A8282-9AD6-402A-B921-60DD8787E8F9}"/>
                  </a:ext>
                </a:extLst>
              </p:cNvPr>
              <p:cNvGrpSpPr/>
              <p:nvPr/>
            </p:nvGrpSpPr>
            <p:grpSpPr>
              <a:xfrm>
                <a:off x="2683853" y="1097589"/>
                <a:ext cx="406966" cy="375510"/>
                <a:chOff x="4320104" y="2898549"/>
                <a:chExt cx="614885" cy="567358"/>
              </a:xfrm>
            </p:grpSpPr>
            <p:grpSp>
              <p:nvGrpSpPr>
                <p:cNvPr id="59" name="群組 227">
                  <a:extLst>
                    <a:ext uri="{FF2B5EF4-FFF2-40B4-BE49-F238E27FC236}">
                      <a16:creationId xmlns:a16="http://schemas.microsoft.com/office/drawing/2014/main" id="{3F180FB9-8A6E-4C32-A968-A46ED1F20B38}"/>
                    </a:ext>
                  </a:extLst>
                </p:cNvPr>
                <p:cNvGrpSpPr/>
                <p:nvPr/>
              </p:nvGrpSpPr>
              <p:grpSpPr>
                <a:xfrm>
                  <a:off x="4320104" y="2898549"/>
                  <a:ext cx="614885" cy="567358"/>
                  <a:chOff x="4597842" y="2897002"/>
                  <a:chExt cx="404508" cy="373242"/>
                </a:xfrm>
                <a:solidFill>
                  <a:schemeClr val="tx1"/>
                </a:solidFill>
              </p:grpSpPr>
              <p:pic>
                <p:nvPicPr>
                  <p:cNvPr id="62" name="圖形 216" descr="監視器">
                    <a:extLst>
                      <a:ext uri="{FF2B5EF4-FFF2-40B4-BE49-F238E27FC236}">
                        <a16:creationId xmlns:a16="http://schemas.microsoft.com/office/drawing/2014/main" id="{0FE87652-67AC-406B-B686-CD0F7518A9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9">
                    <a:extLst>
                      <a:ext uri="{96DAC541-7B7A-43D3-8B79-37D633B846F1}">
                        <asvg:svgBlip xmlns:asvg="http://schemas.microsoft.com/office/drawing/2016/SVG/main" r:embed="rId3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721640" y="2897002"/>
                    <a:ext cx="280710" cy="280710"/>
                  </a:xfrm>
                  <a:prstGeom prst="rect">
                    <a:avLst/>
                  </a:prstGeom>
                </p:spPr>
              </p:pic>
              <p:grpSp>
                <p:nvGrpSpPr>
                  <p:cNvPr id="63" name="群組 224">
                    <a:extLst>
                      <a:ext uri="{FF2B5EF4-FFF2-40B4-BE49-F238E27FC236}">
                        <a16:creationId xmlns:a16="http://schemas.microsoft.com/office/drawing/2014/main" id="{3BCCC2F4-250C-4294-9686-E6BECA5FB0B7}"/>
                      </a:ext>
                    </a:extLst>
                  </p:cNvPr>
                  <p:cNvGrpSpPr/>
                  <p:nvPr/>
                </p:nvGrpSpPr>
                <p:grpSpPr>
                  <a:xfrm>
                    <a:off x="4597842" y="3117027"/>
                    <a:ext cx="351663" cy="134909"/>
                    <a:chOff x="4509870" y="3228567"/>
                    <a:chExt cx="446884" cy="171439"/>
                  </a:xfrm>
                  <a:grpFill/>
                </p:grpSpPr>
                <p:pic>
                  <p:nvPicPr>
                    <p:cNvPr id="65" name="圖形 214" descr="智慧型手機">
                      <a:extLst>
                        <a:ext uri="{FF2B5EF4-FFF2-40B4-BE49-F238E27FC236}">
                          <a16:creationId xmlns:a16="http://schemas.microsoft.com/office/drawing/2014/main" id="{5F3C3E8E-2925-44CD-9E42-224082AB3E3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1">
                      <a:extLst>
                        <a:ext uri="{96DAC541-7B7A-43D3-8B79-37D633B846F1}">
                          <asvg:svgBlip xmlns:asvg="http://schemas.microsoft.com/office/drawing/2016/SVG/main" r:embed="rId3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4509870" y="3228567"/>
                      <a:ext cx="167270" cy="1672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6" name="圖形 220" descr="圖片">
                      <a:extLst>
                        <a:ext uri="{FF2B5EF4-FFF2-40B4-BE49-F238E27FC236}">
                          <a16:creationId xmlns:a16="http://schemas.microsoft.com/office/drawing/2014/main" id="{6B1C973E-ED16-479D-8391-0E4910DB39C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2">
                      <a:extLst>
                        <a:ext uri="{96DAC541-7B7A-43D3-8B79-37D633B846F1}">
                          <asvg:svgBlip xmlns:asvg="http://schemas.microsoft.com/office/drawing/2016/SVG/main" r:embed="rId2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4840893" y="3284145"/>
                      <a:ext cx="115861" cy="115861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64" name="圖形 226" descr="箭號 (逆時針曲線)">
                    <a:extLst>
                      <a:ext uri="{FF2B5EF4-FFF2-40B4-BE49-F238E27FC236}">
                        <a16:creationId xmlns:a16="http://schemas.microsoft.com/office/drawing/2014/main" id="{B1EAADEE-901F-421A-94DE-FF23A7BFAAC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>
                    <a:extLst>
                      <a:ext uri="{96DAC541-7B7A-43D3-8B79-37D633B846F1}">
                        <asvg:svgBlip xmlns:asvg="http://schemas.microsoft.com/office/drawing/2016/SVG/main" r:embed="rId21"/>
                      </a:ext>
                    </a:extLst>
                  </a:blip>
                  <a:stretch>
                    <a:fillRect/>
                  </a:stretch>
                </p:blipFill>
                <p:spPr>
                  <a:xfrm rot="4029466">
                    <a:off x="4701436" y="3116381"/>
                    <a:ext cx="153863" cy="15386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60" name="圖形 226" descr="箭號 (逆時針曲線)">
                  <a:extLst>
                    <a:ext uri="{FF2B5EF4-FFF2-40B4-BE49-F238E27FC236}">
                      <a16:creationId xmlns:a16="http://schemas.microsoft.com/office/drawing/2014/main" id="{DC072FAA-06D8-465F-971D-93A187BE71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/>
                </a:stretch>
              </p:blipFill>
              <p:spPr>
                <a:xfrm rot="14333777">
                  <a:off x="4356008" y="3014133"/>
                  <a:ext cx="233884" cy="233884"/>
                </a:xfrm>
                <a:prstGeom prst="rect">
                  <a:avLst/>
                </a:prstGeom>
              </p:spPr>
            </p:pic>
            <p:pic>
              <p:nvPicPr>
                <p:cNvPr id="61" name="圖形 220" descr="圖片">
                  <a:extLst>
                    <a:ext uri="{FF2B5EF4-FFF2-40B4-BE49-F238E27FC236}">
                      <a16:creationId xmlns:a16="http://schemas.microsoft.com/office/drawing/2014/main" id="{76F54FA1-9D8D-43DC-BEF8-367C5C9253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>
                  <a:extLs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40973" y="2945883"/>
                  <a:ext cx="138591" cy="138591"/>
                </a:xfrm>
                <a:prstGeom prst="rect">
                  <a:avLst/>
                </a:prstGeom>
              </p:spPr>
            </p:pic>
          </p:grpSp>
        </p:grpSp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BF4345CC-246C-4D24-9527-AE1FE2CB5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2593076" y="1605658"/>
              <a:ext cx="3849855" cy="7715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9486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>
            <a:spLocks noGrp="1"/>
          </p:cNvSpPr>
          <p:nvPr>
            <p:ph type="title"/>
          </p:nvPr>
        </p:nvSpPr>
        <p:spPr>
          <a:xfrm>
            <a:off x="395536" y="451821"/>
            <a:ext cx="7772400" cy="76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lvl="0"/>
            <a:r>
              <a:rPr lang="en-US" dirty="0"/>
              <a:t>Selected Publications</a:t>
            </a:r>
            <a:endParaRPr dirty="0"/>
          </a:p>
        </p:txBody>
      </p:sp>
      <p:sp>
        <p:nvSpPr>
          <p:cNvPr id="159" name="Google Shape;159;p5"/>
          <p:cNvSpPr txBox="1">
            <a:spLocks noGrp="1"/>
          </p:cNvSpPr>
          <p:nvPr>
            <p:ph type="body" idx="1"/>
          </p:nvPr>
        </p:nvSpPr>
        <p:spPr>
          <a:xfrm>
            <a:off x="440517" y="1239575"/>
            <a:ext cx="7511177" cy="530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b="1" dirty="0"/>
              <a:t>Learning-based Image and Video Compression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dirty="0"/>
              <a:t>Learning-based Image/Video Compression (OJCAS’21; </a:t>
            </a:r>
            <a:r>
              <a:rPr lang="en-US" altLang="zh-TW" sz="1800" b="1" dirty="0"/>
              <a:t>ECCV’22</a:t>
            </a:r>
            <a:r>
              <a:rPr lang="en-US" altLang="zh-TW" sz="1800" dirty="0"/>
              <a:t>; TCSVT’23; PCS’24, </a:t>
            </a:r>
            <a:r>
              <a:rPr lang="en-US" altLang="zh-TW" sz="1800" b="1" dirty="0"/>
              <a:t>CVPR’23, TCSVT’24</a:t>
            </a:r>
            <a:r>
              <a:rPr lang="en-US" altLang="zh-TW" sz="1800" dirty="0"/>
              <a:t>)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dirty="0"/>
              <a:t>Deep Learning-assisted Video Compression (</a:t>
            </a:r>
            <a:r>
              <a:rPr lang="en-US" altLang="zh-TW" sz="1800" b="1" dirty="0"/>
              <a:t>DCC’21</a:t>
            </a:r>
            <a:r>
              <a:rPr lang="en-US" altLang="zh-TW" sz="1800" dirty="0"/>
              <a:t>)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dirty="0"/>
              <a:t>Image/Video Coding for Machines (</a:t>
            </a:r>
            <a:r>
              <a:rPr lang="en-US" altLang="zh-TW" sz="1800" b="1" dirty="0"/>
              <a:t>ICCV’23</a:t>
            </a:r>
            <a:r>
              <a:rPr lang="en-US" altLang="zh-TW" sz="1800" dirty="0"/>
              <a:t>)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b="1" dirty="0"/>
              <a:t>Visual Signal Processing and Computer Vision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dirty="0"/>
              <a:t>Continuous-scale Video Super-resolution (</a:t>
            </a:r>
            <a:r>
              <a:rPr lang="en-US" altLang="zh-TW" sz="1800" b="1" dirty="0"/>
              <a:t>ICCV’23</a:t>
            </a:r>
            <a:r>
              <a:rPr lang="en-US" altLang="zh-TW" sz="1800" dirty="0"/>
              <a:t>)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dirty="0"/>
              <a:t>Radar-based Human Pose Estimation (</a:t>
            </a:r>
            <a:r>
              <a:rPr lang="en-US" altLang="zh-TW" sz="1800" b="1" dirty="0"/>
              <a:t>WACV’23, BMVC’24</a:t>
            </a:r>
            <a:r>
              <a:rPr lang="en-US" altLang="zh-TW" sz="1800" dirty="0"/>
              <a:t>)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dirty="0"/>
              <a:t>Video Rescaling (</a:t>
            </a:r>
            <a:r>
              <a:rPr lang="en-US" altLang="zh-TW" sz="1800" b="1" dirty="0"/>
              <a:t>CVPR’21</a:t>
            </a:r>
            <a:r>
              <a:rPr lang="en-US" altLang="zh-TW" sz="1800" dirty="0"/>
              <a:t>) 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dirty="0"/>
              <a:t>Reinforcement Learning-based Video Prediction (</a:t>
            </a:r>
            <a:r>
              <a:rPr lang="en-US" altLang="zh-TW" sz="1800" b="1" dirty="0"/>
              <a:t>ICCV’19</a:t>
            </a:r>
            <a:r>
              <a:rPr lang="en-US" altLang="zh-TW" sz="1800" dirty="0"/>
              <a:t>)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dirty="0"/>
              <a:t>Incremental Learning (ACCV’21)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dirty="0">
                <a:ea typeface="標楷體" panose="03000509000000000000" pitchFamily="65" charset="-120"/>
              </a:rPr>
              <a:t>Weakly Supervised Semantic Segmentation (ICME’21)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dirty="0">
                <a:ea typeface="標楷體" panose="03000509000000000000" pitchFamily="65" charset="-120"/>
              </a:rPr>
              <a:t>Domain Adaptation for Semantic Segmentation (</a:t>
            </a:r>
            <a:r>
              <a:rPr lang="en-US" altLang="zh-TW" sz="1800" b="1" dirty="0">
                <a:ea typeface="標楷體" panose="03000509000000000000" pitchFamily="65" charset="-120"/>
              </a:rPr>
              <a:t>CVPR’19</a:t>
            </a:r>
            <a:r>
              <a:rPr lang="en-US" altLang="zh-TW" sz="1800" dirty="0">
                <a:ea typeface="標楷體" panose="03000509000000000000" pitchFamily="65" charset="-120"/>
              </a:rPr>
              <a:t>)</a:t>
            </a:r>
            <a:endParaRPr lang="en-US" altLang="zh-TW" sz="1800" dirty="0"/>
          </a:p>
          <a:p>
            <a:pPr marL="342900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b="1" dirty="0"/>
              <a:t>Robotics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</a:pPr>
            <a:r>
              <a:rPr lang="en-US" altLang="zh-TW" sz="1800" dirty="0"/>
              <a:t>Autonomous drone (VCIP’21)</a:t>
            </a:r>
          </a:p>
        </p:txBody>
      </p:sp>
      <p:sp>
        <p:nvSpPr>
          <p:cNvPr id="160" name="Google Shape;160;p5"/>
          <p:cNvSpPr>
            <a:spLocks noGrp="1"/>
          </p:cNvSpPr>
          <p:nvPr>
            <p:ph type="sldNum" idx="12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2612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>
            <a:spLocks noGrp="1"/>
          </p:cNvSpPr>
          <p:nvPr>
            <p:ph type="title"/>
          </p:nvPr>
        </p:nvSpPr>
        <p:spPr>
          <a:xfrm>
            <a:off x="395535" y="451821"/>
            <a:ext cx="8748465" cy="76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lvl="0"/>
            <a:r>
              <a:rPr lang="en-US" sz="2800" dirty="0"/>
              <a:t>Active Contributor to ISO &amp; ITU-T Video Standards</a:t>
            </a:r>
            <a:endParaRPr sz="2800" dirty="0"/>
          </a:p>
        </p:txBody>
      </p:sp>
      <p:sp>
        <p:nvSpPr>
          <p:cNvPr id="159" name="Google Shape;159;p5"/>
          <p:cNvSpPr txBox="1">
            <a:spLocks noGrp="1"/>
          </p:cNvSpPr>
          <p:nvPr>
            <p:ph type="body" idx="1"/>
          </p:nvPr>
        </p:nvSpPr>
        <p:spPr>
          <a:xfrm>
            <a:off x="440517" y="1239576"/>
            <a:ext cx="8334028" cy="49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</a:pPr>
            <a:endParaRPr lang="en-US" altLang="zh-TW" sz="2000" dirty="0"/>
          </a:p>
        </p:txBody>
      </p:sp>
      <p:sp>
        <p:nvSpPr>
          <p:cNvPr id="160" name="Google Shape;160;p5"/>
          <p:cNvSpPr>
            <a:spLocks noGrp="1"/>
          </p:cNvSpPr>
          <p:nvPr>
            <p:ph type="sldNum" idx="12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1979" t="13890" r="12395" b="5740"/>
          <a:stretch/>
        </p:blipFill>
        <p:spPr>
          <a:xfrm>
            <a:off x="603504" y="1351089"/>
            <a:ext cx="7939454" cy="474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0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>
            <a:spLocks noGrp="1"/>
          </p:cNvSpPr>
          <p:nvPr>
            <p:ph type="title"/>
          </p:nvPr>
        </p:nvSpPr>
        <p:spPr>
          <a:xfrm>
            <a:off x="395536" y="451821"/>
            <a:ext cx="7772400" cy="76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lvl="0"/>
            <a:r>
              <a:rPr lang="en-US" dirty="0"/>
              <a:t>Our Collaborators</a:t>
            </a:r>
            <a:endParaRPr dirty="0"/>
          </a:p>
        </p:txBody>
      </p:sp>
      <p:sp>
        <p:nvSpPr>
          <p:cNvPr id="159" name="Google Shape;159;p5"/>
          <p:cNvSpPr txBox="1">
            <a:spLocks noGrp="1"/>
          </p:cNvSpPr>
          <p:nvPr>
            <p:ph type="body" idx="1"/>
          </p:nvPr>
        </p:nvSpPr>
        <p:spPr>
          <a:xfrm>
            <a:off x="440517" y="1239576"/>
            <a:ext cx="8334028" cy="5618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altLang="zh-TW" sz="2400" dirty="0"/>
              <a:t>Academia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Leibniz </a:t>
            </a:r>
            <a:r>
              <a:rPr lang="en-US" sz="2000" dirty="0" err="1"/>
              <a:t>Universität</a:t>
            </a:r>
            <a:r>
              <a:rPr lang="en-US" sz="2000" dirty="0"/>
              <a:t> Hannover, </a:t>
            </a:r>
            <a:r>
              <a:rPr lang="en-US" sz="2000" b="1" dirty="0"/>
              <a:t>Germany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University of Brescia, </a:t>
            </a:r>
            <a:r>
              <a:rPr lang="en-US" sz="2000" b="1" dirty="0"/>
              <a:t>Italy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Yokohama National University, </a:t>
            </a:r>
            <a:r>
              <a:rPr lang="en-US" sz="2000" b="1" dirty="0"/>
              <a:t>Japan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Federal University of Pelotas - </a:t>
            </a:r>
            <a:r>
              <a:rPr lang="en-US" sz="2000" dirty="0" err="1"/>
              <a:t>UFPel</a:t>
            </a:r>
            <a:r>
              <a:rPr lang="en-US" sz="2000" dirty="0"/>
              <a:t>, </a:t>
            </a:r>
            <a:r>
              <a:rPr lang="en-US" sz="2000" b="1" dirty="0"/>
              <a:t>Brazil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University of Washington, </a:t>
            </a:r>
            <a:r>
              <a:rPr lang="en-US" sz="2000" b="1" dirty="0"/>
              <a:t>USA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Poznan University of Technology, </a:t>
            </a:r>
            <a:r>
              <a:rPr lang="en-US" sz="2000" b="1" dirty="0"/>
              <a:t>Poland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altLang="zh-TW" sz="2400" dirty="0"/>
              <a:t>Industry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</a:pPr>
            <a:r>
              <a:rPr lang="en-US" altLang="zh-TW" sz="2000" dirty="0" err="1"/>
              <a:t>MediaTek</a:t>
            </a:r>
            <a:r>
              <a:rPr lang="en-US" altLang="zh-TW" sz="2000" dirty="0"/>
              <a:t>, Taiwan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</a:pPr>
            <a:r>
              <a:rPr lang="en-US" altLang="zh-TW" sz="2000" dirty="0"/>
              <a:t>Qualcomm, USA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400" dirty="0"/>
          </a:p>
        </p:txBody>
      </p:sp>
      <p:sp>
        <p:nvSpPr>
          <p:cNvPr id="160" name="Google Shape;160;p5"/>
          <p:cNvSpPr>
            <a:spLocks noGrp="1"/>
          </p:cNvSpPr>
          <p:nvPr>
            <p:ph type="sldNum" idx="12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7161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>
            <a:spLocks noGrp="1"/>
          </p:cNvSpPr>
          <p:nvPr>
            <p:ph type="title"/>
          </p:nvPr>
        </p:nvSpPr>
        <p:spPr>
          <a:xfrm>
            <a:off x="395536" y="451821"/>
            <a:ext cx="7772400" cy="76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lvl="0"/>
            <a:r>
              <a:rPr lang="en-US" altLang="zh-TW" dirty="0"/>
              <a:t>Student Internship</a:t>
            </a:r>
            <a:endParaRPr dirty="0"/>
          </a:p>
        </p:txBody>
      </p:sp>
      <p:sp>
        <p:nvSpPr>
          <p:cNvPr id="159" name="Google Shape;159;p5"/>
          <p:cNvSpPr txBox="1">
            <a:spLocks noGrp="1"/>
          </p:cNvSpPr>
          <p:nvPr>
            <p:ph type="body" idx="1"/>
          </p:nvPr>
        </p:nvSpPr>
        <p:spPr>
          <a:xfrm>
            <a:off x="440517" y="1239576"/>
            <a:ext cx="8334028" cy="5618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sz="2200" dirty="0"/>
              <a:t>2024 Internship with University of Brescia, Italy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sz="2200" dirty="0"/>
              <a:t>2024 Internship with Leibniz Universität Hannover, Germany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sz="2200" dirty="0"/>
              <a:t>2020 Internship with University of Washington, USA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sz="2200" dirty="0"/>
              <a:t>2019 Internship with Poznan University of Technology, Poland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sz="2200" dirty="0"/>
              <a:t>2019 Internship with Max Planck Institute, Germany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sz="2200" dirty="0"/>
              <a:t>2017 Student Exchange Program with RWTH Aachen University, Germany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sz="2200" dirty="0"/>
              <a:t>2015 Internship with </a:t>
            </a:r>
            <a:r>
              <a:rPr lang="en-US" sz="2200" dirty="0" err="1"/>
              <a:t>InterDigital</a:t>
            </a:r>
            <a:r>
              <a:rPr lang="en-US" sz="2200" dirty="0"/>
              <a:t>, San Diego, USA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sz="2200" dirty="0"/>
              <a:t>2014 Internship with INRIA, France</a:t>
            </a:r>
            <a:endParaRPr lang="en-US" sz="2000" dirty="0"/>
          </a:p>
        </p:txBody>
      </p:sp>
      <p:sp>
        <p:nvSpPr>
          <p:cNvPr id="160" name="Google Shape;160;p5"/>
          <p:cNvSpPr>
            <a:spLocks noGrp="1"/>
          </p:cNvSpPr>
          <p:nvPr>
            <p:ph type="sldNum" idx="12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8971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9452" y="2366663"/>
            <a:ext cx="8856984" cy="1470025"/>
          </a:xfrm>
        </p:spPr>
        <p:txBody>
          <a:bodyPr>
            <a:normAutofit fontScale="90000"/>
          </a:bodyPr>
          <a:lstStyle/>
          <a:p>
            <a:br>
              <a:rPr lang="en-US" altLang="zh-TW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End-to-End Learned Image and Video Coding: Recent Advances and Beyond</a:t>
            </a:r>
            <a:endParaRPr lang="zh-CN" altLang="en-US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1955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0352-D60A-A843-B404-F82B8E4EC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Deep Compression Papers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EF03A-D1E4-2640-A192-29AA045C3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340768"/>
            <a:ext cx="8545388" cy="4974392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Deep image/video compression is attracting attention</a:t>
            </a:r>
          </a:p>
          <a:p>
            <a:endParaRPr lang="en-US" sz="2800" b="1" dirty="0"/>
          </a:p>
          <a:p>
            <a:r>
              <a:rPr lang="en-US" sz="2800" b="1" dirty="0"/>
              <a:t>150+ </a:t>
            </a:r>
            <a:r>
              <a:rPr lang="en-US" sz="2800" dirty="0"/>
              <a:t>papers on deep image compression since 2017</a:t>
            </a:r>
          </a:p>
          <a:p>
            <a:pPr lvl="1"/>
            <a:r>
              <a:rPr lang="en-US" sz="2800" dirty="0"/>
              <a:t>Most adopt the </a:t>
            </a:r>
            <a:r>
              <a:rPr lang="en-US" sz="2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autoencoder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-based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framework with </a:t>
            </a:r>
            <a:r>
              <a:rPr lang="en-US" sz="2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hyperprior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2800" b="1" dirty="0"/>
          </a:p>
          <a:p>
            <a:r>
              <a:rPr lang="en-US" sz="2800" b="1" dirty="0"/>
              <a:t>40+ </a:t>
            </a:r>
            <a:r>
              <a:rPr lang="en-US" sz="2800" dirty="0"/>
              <a:t>papers on deep video compression since 2019</a:t>
            </a:r>
          </a:p>
          <a:p>
            <a:pPr lvl="1"/>
            <a:r>
              <a:rPr lang="en-US" sz="2800" dirty="0"/>
              <a:t>Potential techniques are still being researched</a:t>
            </a:r>
          </a:p>
          <a:p>
            <a:pPr lvl="1"/>
            <a:r>
              <a:rPr lang="en-US" sz="2800" dirty="0"/>
              <a:t>Pixel/feature-domain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residual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  <a:r>
              <a:rPr lang="en-US" sz="2800" b="1" dirty="0"/>
              <a:t>and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conditional coding</a:t>
            </a:r>
            <a:r>
              <a:rPr lang="en-US" sz="2800" dirty="0"/>
              <a:t> are popular approaches</a:t>
            </a:r>
          </a:p>
          <a:p>
            <a:endParaRPr lang="en-US" dirty="0"/>
          </a:p>
          <a:p>
            <a:endParaRPr lang="en-US" sz="2600" dirty="0"/>
          </a:p>
          <a:p>
            <a:endParaRPr lang="en-US" sz="2800" dirty="0"/>
          </a:p>
          <a:p>
            <a:pPr lvl="1"/>
            <a:endParaRPr lang="en-US" sz="2400" dirty="0"/>
          </a:p>
          <a:p>
            <a:endParaRPr lang="en-US" sz="195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5A18E-AA88-43ED-A605-D4009C1A63FA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8503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3"/>
          <p:cNvSpPr>
            <a:spLocks noGrp="1" noChangeArrowheads="1"/>
          </p:cNvSpPr>
          <p:nvPr>
            <p:ph type="title"/>
          </p:nvPr>
        </p:nvSpPr>
        <p:spPr>
          <a:xfrm>
            <a:off x="374904" y="291551"/>
            <a:ext cx="8624112" cy="1143000"/>
          </a:xfrm>
          <a:noFill/>
        </p:spPr>
        <p:txBody>
          <a:bodyPr anchor="ctr">
            <a:normAutofit fontScale="90000"/>
          </a:bodyPr>
          <a:lstStyle/>
          <a:p>
            <a:r>
              <a:rPr lang="en-US" altLang="zh-TW" dirty="0">
                <a:ea typeface="標楷體" pitchFamily="65" charset="-120"/>
              </a:rPr>
              <a:t>Neural Networks for Image Compression?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6A148-D85C-DC46-9E06-AE734C4C5356}"/>
              </a:ext>
            </a:extLst>
          </p:cNvPr>
          <p:cNvSpPr txBox="1"/>
          <p:nvPr/>
        </p:nvSpPr>
        <p:spPr>
          <a:xfrm>
            <a:off x="801013" y="6286741"/>
            <a:ext cx="8078398" cy="338554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lang="en-US" altLang="zh-TW" sz="1600" dirty="0">
                <a:latin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Mentzer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et al., “High-Fidelity Generative Image Compression (HIFIC),”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2020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5A18E-AA88-43ED-A605-D4009C1A63FA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4" name="Rectangle 3"/>
          <p:cNvSpPr/>
          <p:nvPr/>
        </p:nvSpPr>
        <p:spPr>
          <a:xfrm>
            <a:off x="3539339" y="5944612"/>
            <a:ext cx="2287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https://hific.github.io/</a:t>
            </a:r>
          </a:p>
        </p:txBody>
      </p:sp>
      <p:sp>
        <p:nvSpPr>
          <p:cNvPr id="9" name="內容版面配置區 4"/>
          <p:cNvSpPr>
            <a:spLocks noGrp="1"/>
          </p:cNvSpPr>
          <p:nvPr>
            <p:ph idx="1"/>
          </p:nvPr>
        </p:nvSpPr>
        <p:spPr>
          <a:xfrm>
            <a:off x="433593" y="1221604"/>
            <a:ext cx="8499298" cy="4179590"/>
          </a:xfrm>
        </p:spPr>
        <p:txBody>
          <a:bodyPr>
            <a:normAutofit/>
          </a:bodyPr>
          <a:lstStyle/>
          <a:p>
            <a:r>
              <a:rPr lang="en-US" altLang="zh-TW" dirty="0"/>
              <a:t>Neural networks are good at </a:t>
            </a:r>
            <a:r>
              <a:rPr lang="en-US" altLang="zh-TW" dirty="0">
                <a:solidFill>
                  <a:srgbClr val="C00000"/>
                </a:solidFill>
              </a:rPr>
              <a:t>synthesizing</a:t>
            </a:r>
            <a:r>
              <a:rPr lang="en-US" altLang="zh-TW" dirty="0"/>
              <a:t> image detail</a:t>
            </a:r>
          </a:p>
          <a:p>
            <a:r>
              <a:rPr lang="en-US" altLang="zh-TW" dirty="0"/>
              <a:t>Easily trained with any </a:t>
            </a:r>
            <a:r>
              <a:rPr lang="en-US" altLang="zh-TW" dirty="0">
                <a:solidFill>
                  <a:srgbClr val="C00000"/>
                </a:solidFill>
              </a:rPr>
              <a:t>differentiable quality metric</a:t>
            </a:r>
          </a:p>
          <a:p>
            <a:pPr marL="320040" lvl="1" indent="0">
              <a:buNone/>
            </a:pPr>
            <a:endParaRPr lang="en-US" altLang="zh-TW" sz="2600" dirty="0"/>
          </a:p>
          <a:p>
            <a:pPr lvl="1">
              <a:lnSpc>
                <a:spcPct val="150000"/>
              </a:lnSpc>
            </a:pPr>
            <a:endParaRPr lang="en-US" altLang="zh-TW" sz="2600" dirty="0"/>
          </a:p>
          <a:p>
            <a:pPr marL="320040" lvl="1" indent="0">
              <a:lnSpc>
                <a:spcPct val="150000"/>
              </a:lnSpc>
              <a:buNone/>
            </a:pPr>
            <a:endParaRPr lang="en-US" altLang="zh-TW" sz="2600" i="1" baseline="-250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59" y="2242133"/>
            <a:ext cx="7578710" cy="369841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38488" y="5457595"/>
            <a:ext cx="26805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chemeClr val="bg1"/>
                </a:solidFill>
              </a:rPr>
              <a:t>BPG (HEVC Intra)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9259" y="5434525"/>
            <a:ext cx="13163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chemeClr val="bg1"/>
                </a:solidFill>
              </a:rPr>
              <a:t>Learned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499992" y="2242133"/>
            <a:ext cx="0" cy="3698411"/>
          </a:xfrm>
          <a:prstGeom prst="straightConnector1">
            <a:avLst/>
          </a:prstGeom>
          <a:ln w="635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738488" y="2924944"/>
            <a:ext cx="2433912" cy="1800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971600" y="2953429"/>
            <a:ext cx="2433912" cy="1800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6485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1D86A148-D85C-DC46-9E06-AE734C4C5356}"/>
              </a:ext>
            </a:extLst>
          </p:cNvPr>
          <p:cNvSpPr txBox="1"/>
          <p:nvPr/>
        </p:nvSpPr>
        <p:spPr>
          <a:xfrm>
            <a:off x="772766" y="6144988"/>
            <a:ext cx="7795443" cy="584775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lang="en-US" altLang="zh-TW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Liu et al., “Learned Image Compression with Mixed Transformer-CNN Architectures,“ CVPR 2023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How Good is Learned </a:t>
            </a:r>
            <a:r>
              <a:rPr lang="en-US" altLang="zh-TW" u="sng" dirty="0"/>
              <a:t>Image</a:t>
            </a:r>
            <a:r>
              <a:rPr lang="en-US" altLang="zh-TW" dirty="0"/>
              <a:t> Compression? 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5A18E-AA88-43ED-A605-D4009C1A63FA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704" y="1384201"/>
            <a:ext cx="5778492" cy="432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09428" y="1206341"/>
            <a:ext cx="35221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CLIC Professional Validation dataset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898298" y="2347692"/>
            <a:ext cx="378042" cy="432048"/>
          </a:xfrm>
          <a:prstGeom prst="straightConnector1">
            <a:avLst/>
          </a:prstGeom>
          <a:ln w="25400">
            <a:solidFill>
              <a:srgbClr val="00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86311" y="2086191"/>
            <a:ext cx="1024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33CC"/>
                </a:solidFill>
              </a:rPr>
              <a:t>CVPR’23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5348851" y="2424745"/>
            <a:ext cx="259611" cy="494644"/>
          </a:xfrm>
          <a:prstGeom prst="straightConnector1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59663" y="2930129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VVC Intra (VTM)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AD2D19-84AD-47E8-9CC0-DB3B6CA2F960}"/>
              </a:ext>
            </a:extLst>
          </p:cNvPr>
          <p:cNvSpPr txBox="1"/>
          <p:nvPr/>
        </p:nvSpPr>
        <p:spPr>
          <a:xfrm>
            <a:off x="772766" y="5666157"/>
            <a:ext cx="7795443" cy="461665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buSzPct val="85000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2400" dirty="0"/>
              <a:t>Top performer (CVPR’23): </a:t>
            </a:r>
            <a:r>
              <a:rPr lang="en-US" sz="2400" b="1" u="sng" dirty="0">
                <a:solidFill>
                  <a:srgbClr val="C00000"/>
                </a:solidFill>
              </a:rPr>
              <a:t>11%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bit rate saving over </a:t>
            </a:r>
            <a:r>
              <a:rPr lang="en-US" sz="2400" b="1" u="sng" dirty="0">
                <a:solidFill>
                  <a:srgbClr val="C00000"/>
                </a:solidFill>
              </a:rPr>
              <a:t>VVC Intra</a:t>
            </a:r>
          </a:p>
        </p:txBody>
      </p:sp>
    </p:spTree>
    <p:extLst>
      <p:ext uri="{BB962C8B-B14F-4D97-AF65-F5344CB8AC3E}">
        <p14:creationId xmlns:p14="http://schemas.microsoft.com/office/powerpoint/2010/main" val="3964932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883CF0-62E0-44CF-9C5D-7707768AD7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6" t="6156" r="6188"/>
          <a:stretch/>
        </p:blipFill>
        <p:spPr>
          <a:xfrm>
            <a:off x="1165857" y="1489704"/>
            <a:ext cx="6699699" cy="430753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B6A6DAC6-166A-42EC-B0E2-353A8F376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Good is Learned </a:t>
            </a:r>
            <a:r>
              <a:rPr lang="en-US" u="sng" dirty="0"/>
              <a:t>Video</a:t>
            </a:r>
            <a:r>
              <a:rPr lang="en-US" dirty="0"/>
              <a:t> Compression?</a:t>
            </a:r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32FBD-8D38-9B41-9939-92FFC5CB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5A18E-AA88-43ED-A605-D4009C1A63FA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47" name="內容版面配置區 4">
            <a:extLst>
              <a:ext uri="{FF2B5EF4-FFF2-40B4-BE49-F238E27FC236}">
                <a16:creationId xmlns:a16="http://schemas.microsoft.com/office/drawing/2014/main" id="{6F200044-0B65-493B-968D-664F7A0CF954}"/>
              </a:ext>
            </a:extLst>
          </p:cNvPr>
          <p:cNvSpPr txBox="1">
            <a:spLocks/>
          </p:cNvSpPr>
          <p:nvPr/>
        </p:nvSpPr>
        <p:spPr>
          <a:xfrm>
            <a:off x="2144488" y="5550855"/>
            <a:ext cx="5184577" cy="346774"/>
          </a:xfrm>
          <a:prstGeom prst="rect">
            <a:avLst/>
          </a:prstGeom>
        </p:spPr>
        <p:txBody>
          <a:bodyPr vert="horz">
            <a:noAutofit/>
          </a:bodyPr>
          <a:lstStyle>
            <a:defPPr>
              <a:defRPr lang="zh-TW"/>
            </a:defPPr>
            <a:lvl1pPr indent="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1600" b="1">
                <a:latin typeface="Times New Roman" panose="02020603050405020304" pitchFamily="18" charset="0"/>
                <a:cs typeface="Times New Roman" pitchFamily="18" charset="0"/>
              </a:defRPr>
            </a:lvl1pPr>
            <a:lvl2pPr marL="548640" indent="-228600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>
                <a:latin typeface="Calibri" panose="020F0502020204030204" pitchFamily="34" charset="0"/>
                <a:cs typeface="Times New Roman" pitchFamily="18" charset="0"/>
              </a:defRPr>
            </a:lvl2pPr>
            <a:lvl3pPr marL="822960" indent="-228600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>
                <a:latin typeface="Calibri" panose="020F0502020204030204" pitchFamily="34" charset="0"/>
              </a:defRPr>
            </a:lvl3pPr>
            <a:lvl4pPr marL="1097280" indent="-228600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>
                <a:latin typeface="Calibri" panose="020F0502020204030204" pitchFamily="34" charset="0"/>
              </a:defRPr>
            </a:lvl4pPr>
            <a:lvl5pPr marL="1371600" indent="-228600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>
                <a:latin typeface="Calibri" panose="020F0502020204030204" pitchFamily="34" charset="0"/>
              </a:defRPr>
            </a:lvl5pPr>
            <a:lvl6pPr marL="1645920" indent="-228600">
              <a:spcBef>
                <a:spcPts val="370"/>
              </a:spcBef>
              <a:buClr>
                <a:schemeClr val="accent3"/>
              </a:buClr>
              <a:buChar char="•"/>
              <a:defRPr kumimoji="0" baseline="0"/>
            </a:lvl6pPr>
            <a:lvl7pPr marL="1920240" indent="-228600">
              <a:spcBef>
                <a:spcPts val="370"/>
              </a:spcBef>
              <a:buClr>
                <a:schemeClr val="accent2"/>
              </a:buClr>
              <a:buChar char="•"/>
              <a:defRPr kumimoji="0"/>
            </a:lvl7pPr>
            <a:lvl8pPr marL="2194560" indent="-228600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/>
            </a:lvl8pPr>
            <a:lvl9pPr marL="2468880" indent="-228600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/>
            </a:lvl9pPr>
          </a:lstStyle>
          <a:p>
            <a:endParaRPr lang="en-US" altLang="zh-TW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AD2D19-84AD-47E8-9CC0-DB3B6CA2F960}"/>
              </a:ext>
            </a:extLst>
          </p:cNvPr>
          <p:cNvSpPr txBox="1"/>
          <p:nvPr/>
        </p:nvSpPr>
        <p:spPr>
          <a:xfrm>
            <a:off x="1023921" y="5931518"/>
            <a:ext cx="7779419" cy="461665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buSzPct val="85000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Top performer (CVPR’23): </a:t>
            </a:r>
            <a:r>
              <a:rPr lang="en-US" b="1" u="sng" dirty="0">
                <a:solidFill>
                  <a:srgbClr val="C00000"/>
                </a:solidFill>
              </a:rPr>
              <a:t>41.9%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bit rate saving over </a:t>
            </a:r>
            <a:r>
              <a:rPr lang="en-US" b="1" u="sng" dirty="0">
                <a:solidFill>
                  <a:srgbClr val="C00000"/>
                </a:solidFill>
              </a:rPr>
              <a:t>HM LDP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2601339" y="2327621"/>
            <a:ext cx="239443" cy="587303"/>
          </a:xfrm>
          <a:prstGeom prst="straightConnector1">
            <a:avLst/>
          </a:prstGeom>
          <a:ln w="22225">
            <a:solidFill>
              <a:srgbClr val="A658C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546244" y="1682600"/>
            <a:ext cx="17924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A658C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DCVC-DC (CVPR’23)</a:t>
            </a:r>
            <a:endParaRPr lang="en-US" sz="1800" b="1" dirty="0">
              <a:solidFill>
                <a:srgbClr val="A658C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0" name="Straight Arrow Connector 29"/>
          <p:cNvCxnSpPr>
            <a:cxnSpLocks/>
          </p:cNvCxnSpPr>
          <p:nvPr/>
        </p:nvCxnSpPr>
        <p:spPr>
          <a:xfrm>
            <a:off x="4028770" y="2132164"/>
            <a:ext cx="258036" cy="541637"/>
          </a:xfrm>
          <a:prstGeom prst="straightConnector1">
            <a:avLst/>
          </a:prstGeom>
          <a:ln w="22225">
            <a:solidFill>
              <a:srgbClr val="A5A5A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494230" y="1815639"/>
            <a:ext cx="11405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800" b="1" dirty="0">
                <a:solidFill>
                  <a:srgbClr val="A5A5A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VVC (LDP)</a:t>
            </a:r>
            <a:endParaRPr lang="en-US" sz="1800" b="1" dirty="0">
              <a:solidFill>
                <a:srgbClr val="A5A5A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AD2D19-84AD-47E8-9CC0-DB3B6CA2F960}"/>
              </a:ext>
            </a:extLst>
          </p:cNvPr>
          <p:cNvSpPr txBox="1"/>
          <p:nvPr/>
        </p:nvSpPr>
        <p:spPr>
          <a:xfrm>
            <a:off x="5835276" y="3021353"/>
            <a:ext cx="1684882" cy="338554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buSzPct val="85000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b="1" dirty="0"/>
              <a:t>Intra Period = 32</a:t>
            </a:r>
            <a:endParaRPr lang="en-US" b="1" u="sng" dirty="0"/>
          </a:p>
        </p:txBody>
      </p:sp>
      <p:cxnSp>
        <p:nvCxnSpPr>
          <p:cNvPr id="29" name="Straight Arrow Connector 28"/>
          <p:cNvCxnSpPr>
            <a:cxnSpLocks/>
          </p:cNvCxnSpPr>
          <p:nvPr/>
        </p:nvCxnSpPr>
        <p:spPr>
          <a:xfrm flipV="1">
            <a:off x="3954181" y="2425807"/>
            <a:ext cx="0" cy="1303511"/>
          </a:xfrm>
          <a:prstGeom prst="straightConnector1">
            <a:avLst/>
          </a:prstGeom>
          <a:ln w="254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954181" y="2885703"/>
            <a:ext cx="1684882" cy="491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solidFill>
                  <a:srgbClr val="C00000"/>
                </a:solidFill>
              </a:rPr>
              <a:t>&lt; 2 years!</a:t>
            </a:r>
          </a:p>
        </p:txBody>
      </p:sp>
    </p:spTree>
    <p:extLst>
      <p:ext uri="{BB962C8B-B14F-4D97-AF65-F5344CB8AC3E}">
        <p14:creationId xmlns:p14="http://schemas.microsoft.com/office/powerpoint/2010/main" val="2720740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>
            <a:spLocks noGrp="1"/>
          </p:cNvSpPr>
          <p:nvPr>
            <p:ph type="title"/>
          </p:nvPr>
        </p:nvSpPr>
        <p:spPr>
          <a:xfrm>
            <a:off x="395536" y="451821"/>
            <a:ext cx="7772400" cy="76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 fontScale="90000"/>
          </a:bodyPr>
          <a:lstStyle/>
          <a:p>
            <a:pPr lvl="0"/>
            <a:r>
              <a:rPr lang="en-US" dirty="0"/>
              <a:t>Tutorial on Learned Image/Video Coding at ICCV’23</a:t>
            </a:r>
            <a:endParaRPr dirty="0"/>
          </a:p>
        </p:txBody>
      </p:sp>
      <p:sp>
        <p:nvSpPr>
          <p:cNvPr id="159" name="Google Shape;159;p5"/>
          <p:cNvSpPr txBox="1">
            <a:spLocks noGrp="1"/>
          </p:cNvSpPr>
          <p:nvPr>
            <p:ph type="body" idx="1"/>
          </p:nvPr>
        </p:nvSpPr>
        <p:spPr>
          <a:xfrm>
            <a:off x="440517" y="1239576"/>
            <a:ext cx="7727419" cy="49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</a:pPr>
            <a:endParaRPr lang="en-US" altLang="zh-TW" sz="1800" dirty="0"/>
          </a:p>
        </p:txBody>
      </p:sp>
      <p:sp>
        <p:nvSpPr>
          <p:cNvPr id="160" name="Google Shape;160;p5"/>
          <p:cNvSpPr>
            <a:spLocks noGrp="1"/>
          </p:cNvSpPr>
          <p:nvPr>
            <p:ph type="sldNum" idx="12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43528" y="6268099"/>
            <a:ext cx="84004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Merriweather"/>
              </a:rPr>
              <a:t>https://nycu-mapl.github.io/ICCV2023_Learned_Image_and_Video_Compression_Tutorial</a:t>
            </a:r>
            <a:r>
              <a:rPr lang="en-US" sz="1600" dirty="0">
                <a:latin typeface="Merriweather"/>
              </a:rPr>
              <a:t>/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49" y="1367204"/>
            <a:ext cx="78232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35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4125C0-DC72-43F6-99C2-7FF555402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Image Coding for Machine</a:t>
            </a:r>
            <a:r>
              <a:rPr lang="zh-TW" altLang="en-US" dirty="0"/>
              <a:t> </a:t>
            </a:r>
            <a:r>
              <a:rPr lang="en-US" altLang="zh-TW" dirty="0"/>
              <a:t>Perception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073699-36FE-4CA5-83C0-E9D83986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5A18E-AA88-43ED-A605-D4009C1A63FA}" type="slidenum">
              <a:rPr lang="zh-TW" altLang="en-US" smtClean="0"/>
              <a:pPr/>
              <a:t>16</a:t>
            </a:fld>
            <a:endParaRPr lang="zh-TW" altLang="en-US"/>
          </a:p>
        </p:txBody>
      </p:sp>
      <p:grpSp>
        <p:nvGrpSpPr>
          <p:cNvPr id="29" name="Group 1">
            <a:extLst>
              <a:ext uri="{FF2B5EF4-FFF2-40B4-BE49-F238E27FC236}">
                <a16:creationId xmlns:a16="http://schemas.microsoft.com/office/drawing/2014/main" id="{9BB44590-0A2E-1CA8-4B49-30C7864C96F8}"/>
              </a:ext>
            </a:extLst>
          </p:cNvPr>
          <p:cNvGrpSpPr/>
          <p:nvPr/>
        </p:nvGrpSpPr>
        <p:grpSpPr>
          <a:xfrm>
            <a:off x="1475656" y="4257531"/>
            <a:ext cx="6202151" cy="2319592"/>
            <a:chOff x="2135560" y="2732795"/>
            <a:chExt cx="7647838" cy="2486937"/>
          </a:xfrm>
        </p:grpSpPr>
        <p:pic>
          <p:nvPicPr>
            <p:cNvPr id="30" name="Google Shape;118;p15">
              <a:extLst>
                <a:ext uri="{FF2B5EF4-FFF2-40B4-BE49-F238E27FC236}">
                  <a16:creationId xmlns:a16="http://schemas.microsoft.com/office/drawing/2014/main" id="{2CF0C9C7-207A-8FC6-3EC9-47AF754D468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1758" r="66724"/>
            <a:stretch/>
          </p:blipFill>
          <p:spPr>
            <a:xfrm>
              <a:off x="4657425" y="2732795"/>
              <a:ext cx="2550775" cy="2486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20;p15">
              <a:extLst>
                <a:ext uri="{FF2B5EF4-FFF2-40B4-BE49-F238E27FC236}">
                  <a16:creationId xmlns:a16="http://schemas.microsoft.com/office/drawing/2014/main" id="{64A9BA18-D823-D2FB-D941-6DC63E0434F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33612" t="1758" r="33807"/>
            <a:stretch/>
          </p:blipFill>
          <p:spPr>
            <a:xfrm>
              <a:off x="2135560" y="2732795"/>
              <a:ext cx="2497443" cy="2486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121;p15">
              <a:extLst>
                <a:ext uri="{FF2B5EF4-FFF2-40B4-BE49-F238E27FC236}">
                  <a16:creationId xmlns:a16="http://schemas.microsoft.com/office/drawing/2014/main" id="{BD2E3750-E8AA-133E-D4C5-49BBB3DA5EC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66724" t="1758"/>
            <a:stretch/>
          </p:blipFill>
          <p:spPr>
            <a:xfrm>
              <a:off x="7232623" y="2732795"/>
              <a:ext cx="2550775" cy="24869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" name="Google Shape;135;p16">
            <a:extLst>
              <a:ext uri="{FF2B5EF4-FFF2-40B4-BE49-F238E27FC236}">
                <a16:creationId xmlns:a16="http://schemas.microsoft.com/office/drawing/2014/main" id="{E82C7DE4-D6C4-6C2A-9F0F-3B22EE21FD6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2677" y="1390546"/>
            <a:ext cx="3079480" cy="286937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23;p15">
            <a:extLst>
              <a:ext uri="{FF2B5EF4-FFF2-40B4-BE49-F238E27FC236}">
                <a16:creationId xmlns:a16="http://schemas.microsoft.com/office/drawing/2014/main" id="{C45428F3-5A40-37C7-AEAD-68F8B616ED60}"/>
              </a:ext>
            </a:extLst>
          </p:cNvPr>
          <p:cNvSpPr txBox="1"/>
          <p:nvPr/>
        </p:nvSpPr>
        <p:spPr>
          <a:xfrm>
            <a:off x="5531731" y="6472537"/>
            <a:ext cx="2211847" cy="35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altLang="zh-TW" b="1" dirty="0">
                <a:highlight>
                  <a:srgbClr val="FFCE74"/>
                </a:highlight>
                <a:latin typeface="Calibri"/>
                <a:ea typeface="Calibri"/>
                <a:cs typeface="Calibri"/>
                <a:sym typeface="Calibri"/>
              </a:rPr>
              <a:t>Full finetuning (for machine)</a:t>
            </a:r>
            <a:endParaRPr b="1" dirty="0">
              <a:highlight>
                <a:srgbClr val="FFCE7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123;p15">
            <a:extLst>
              <a:ext uri="{FF2B5EF4-FFF2-40B4-BE49-F238E27FC236}">
                <a16:creationId xmlns:a16="http://schemas.microsoft.com/office/drawing/2014/main" id="{0FC292C3-7E67-D2FB-1439-DF24E9C4F199}"/>
              </a:ext>
            </a:extLst>
          </p:cNvPr>
          <p:cNvSpPr txBox="1"/>
          <p:nvPr/>
        </p:nvSpPr>
        <p:spPr>
          <a:xfrm>
            <a:off x="3658013" y="6472537"/>
            <a:ext cx="1827973" cy="35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altLang="zh-TW" b="1" dirty="0">
                <a:highlight>
                  <a:srgbClr val="FFCE74"/>
                </a:highlight>
                <a:latin typeface="Calibri"/>
                <a:ea typeface="Calibri"/>
                <a:cs typeface="Calibri"/>
                <a:sym typeface="Calibri"/>
              </a:rPr>
              <a:t>Ours (for machine)</a:t>
            </a:r>
            <a:endParaRPr b="1" dirty="0">
              <a:highlight>
                <a:srgbClr val="FFCE7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23;p15">
            <a:extLst>
              <a:ext uri="{FF2B5EF4-FFF2-40B4-BE49-F238E27FC236}">
                <a16:creationId xmlns:a16="http://schemas.microsoft.com/office/drawing/2014/main" id="{45D0DFB4-0DB8-DE2B-825C-1B91F421626F}"/>
              </a:ext>
            </a:extLst>
          </p:cNvPr>
          <p:cNvSpPr txBox="1"/>
          <p:nvPr/>
        </p:nvSpPr>
        <p:spPr>
          <a:xfrm>
            <a:off x="1455850" y="6472537"/>
            <a:ext cx="2010770" cy="35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altLang="zh-TW" b="1" dirty="0">
                <a:highlight>
                  <a:srgbClr val="FFCE74"/>
                </a:highlight>
                <a:latin typeface="Calibri"/>
                <a:ea typeface="Calibri"/>
                <a:cs typeface="Calibri"/>
                <a:sym typeface="Calibri"/>
              </a:rPr>
              <a:t>Base codec (for human)</a:t>
            </a:r>
            <a:endParaRPr b="1" dirty="0">
              <a:highlight>
                <a:srgbClr val="FFCE7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136;p16">
            <a:extLst>
              <a:ext uri="{FF2B5EF4-FFF2-40B4-BE49-F238E27FC236}">
                <a16:creationId xmlns:a16="http://schemas.microsoft.com/office/drawing/2014/main" id="{B0F42EE1-96AF-578E-E95D-585E2486941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9023" y="1455975"/>
            <a:ext cx="3079479" cy="280986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137;p16">
            <a:extLst>
              <a:ext uri="{FF2B5EF4-FFF2-40B4-BE49-F238E27FC236}">
                <a16:creationId xmlns:a16="http://schemas.microsoft.com/office/drawing/2014/main" id="{D708B458-B8D0-BA03-59A9-3406A8040EBA}"/>
              </a:ext>
            </a:extLst>
          </p:cNvPr>
          <p:cNvSpPr txBox="1"/>
          <p:nvPr/>
        </p:nvSpPr>
        <p:spPr>
          <a:xfrm>
            <a:off x="1960059" y="1032647"/>
            <a:ext cx="2249679" cy="446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20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38;p16">
            <a:extLst>
              <a:ext uri="{FF2B5EF4-FFF2-40B4-BE49-F238E27FC236}">
                <a16:creationId xmlns:a16="http://schemas.microsoft.com/office/drawing/2014/main" id="{FD935024-E470-11B6-6FD6-3F4865A9B96D}"/>
              </a:ext>
            </a:extLst>
          </p:cNvPr>
          <p:cNvSpPr txBox="1"/>
          <p:nvPr/>
        </p:nvSpPr>
        <p:spPr>
          <a:xfrm>
            <a:off x="4956306" y="1032647"/>
            <a:ext cx="2474466" cy="446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Object Detection</a:t>
            </a:r>
            <a:endParaRPr sz="20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D573EF4A-C031-5B63-2E1F-2F688615B4A0}"/>
              </a:ext>
            </a:extLst>
          </p:cNvPr>
          <p:cNvSpPr txBox="1"/>
          <p:nvPr/>
        </p:nvSpPr>
        <p:spPr>
          <a:xfrm>
            <a:off x="2880793" y="2903318"/>
            <a:ext cx="1771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33CC"/>
                </a:solidFill>
              </a:rPr>
              <a:t>Base (for human)</a:t>
            </a:r>
          </a:p>
        </p:txBody>
      </p:sp>
      <p:sp>
        <p:nvSpPr>
          <p:cNvPr id="42" name="TextBox 8">
            <a:extLst>
              <a:ext uri="{FF2B5EF4-FFF2-40B4-BE49-F238E27FC236}">
                <a16:creationId xmlns:a16="http://schemas.microsoft.com/office/drawing/2014/main" id="{9F60898E-39BE-469C-4877-99E4AC52DC29}"/>
              </a:ext>
            </a:extLst>
          </p:cNvPr>
          <p:cNvSpPr txBox="1"/>
          <p:nvPr/>
        </p:nvSpPr>
        <p:spPr>
          <a:xfrm>
            <a:off x="2473127" y="2263728"/>
            <a:ext cx="5670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Ours</a:t>
            </a:r>
          </a:p>
        </p:txBody>
      </p:sp>
      <p:sp>
        <p:nvSpPr>
          <p:cNvPr id="43" name="TextBox 9">
            <a:extLst>
              <a:ext uri="{FF2B5EF4-FFF2-40B4-BE49-F238E27FC236}">
                <a16:creationId xmlns:a16="http://schemas.microsoft.com/office/drawing/2014/main" id="{694560FB-0BBE-31ED-DADA-F15074045A6C}"/>
              </a:ext>
            </a:extLst>
          </p:cNvPr>
          <p:cNvSpPr txBox="1"/>
          <p:nvPr/>
        </p:nvSpPr>
        <p:spPr>
          <a:xfrm>
            <a:off x="2136001" y="1630421"/>
            <a:ext cx="1459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Full </a:t>
            </a:r>
            <a:r>
              <a:rPr lang="en-US" sz="1600" dirty="0" err="1"/>
              <a:t>finetuning</a:t>
            </a:r>
            <a:endParaRPr lang="en-US" sz="1600" dirty="0"/>
          </a:p>
        </p:txBody>
      </p:sp>
      <p:sp>
        <p:nvSpPr>
          <p:cNvPr id="44" name="TextBox 10">
            <a:extLst>
              <a:ext uri="{FF2B5EF4-FFF2-40B4-BE49-F238E27FC236}">
                <a16:creationId xmlns:a16="http://schemas.microsoft.com/office/drawing/2014/main" id="{DB735B42-65CC-6332-0742-CE1FF137D41B}"/>
              </a:ext>
            </a:extLst>
          </p:cNvPr>
          <p:cNvSpPr txBox="1"/>
          <p:nvPr/>
        </p:nvSpPr>
        <p:spPr>
          <a:xfrm>
            <a:off x="5751836" y="2852518"/>
            <a:ext cx="1771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33CC"/>
                </a:solidFill>
              </a:rPr>
              <a:t>Base (for human)</a:t>
            </a:r>
          </a:p>
        </p:txBody>
      </p:sp>
      <p:sp>
        <p:nvSpPr>
          <p:cNvPr id="45" name="TextBox 11">
            <a:extLst>
              <a:ext uri="{FF2B5EF4-FFF2-40B4-BE49-F238E27FC236}">
                <a16:creationId xmlns:a16="http://schemas.microsoft.com/office/drawing/2014/main" id="{5CCD290A-79CD-3C64-F3F7-8A6D7CDF32CC}"/>
              </a:ext>
            </a:extLst>
          </p:cNvPr>
          <p:cNvSpPr txBox="1"/>
          <p:nvPr/>
        </p:nvSpPr>
        <p:spPr>
          <a:xfrm>
            <a:off x="5764941" y="2102999"/>
            <a:ext cx="5670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Ours</a:t>
            </a:r>
          </a:p>
        </p:txBody>
      </p:sp>
      <p:sp>
        <p:nvSpPr>
          <p:cNvPr id="46" name="TextBox 12">
            <a:extLst>
              <a:ext uri="{FF2B5EF4-FFF2-40B4-BE49-F238E27FC236}">
                <a16:creationId xmlns:a16="http://schemas.microsoft.com/office/drawing/2014/main" id="{21C09BBD-1777-FD03-6C87-1AB41C482FFE}"/>
              </a:ext>
            </a:extLst>
          </p:cNvPr>
          <p:cNvSpPr txBox="1"/>
          <p:nvPr/>
        </p:nvSpPr>
        <p:spPr>
          <a:xfrm>
            <a:off x="4894157" y="1519349"/>
            <a:ext cx="1459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Full </a:t>
            </a:r>
            <a:r>
              <a:rPr lang="en-US" sz="1600" dirty="0" err="1"/>
              <a:t>finetuning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69581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340375" y="-18256"/>
            <a:ext cx="8997695" cy="11430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Image Coding with a Variable Quality Objective</a:t>
            </a:r>
          </a:p>
        </p:txBody>
      </p:sp>
      <p:sp>
        <p:nvSpPr>
          <p:cNvPr id="117" name="Google Shape;117;p1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17</a:t>
            </a:fld>
            <a:endParaRPr lang="en-US"/>
          </a:p>
        </p:txBody>
      </p:sp>
      <p:sp>
        <p:nvSpPr>
          <p:cNvPr id="22" name="Google Shape;122;p15"/>
          <p:cNvSpPr txBox="1"/>
          <p:nvPr/>
        </p:nvSpPr>
        <p:spPr>
          <a:xfrm>
            <a:off x="1856593" y="5591067"/>
            <a:ext cx="5832648" cy="877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Codecs trained for </a:t>
            </a:r>
            <a:r>
              <a:rPr lang="en-US" sz="2400" b="1" u="sng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</a:t>
            </a:r>
            <a:r>
              <a:rPr lang="en-US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quality metric</a:t>
            </a:r>
          </a:p>
          <a:p>
            <a:r>
              <a:rPr lang="en-US" sz="2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Codecs trained for </a:t>
            </a:r>
            <a:r>
              <a:rPr lang="en-US" sz="2400" b="1" u="sng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lang="en-US" sz="2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quality metrics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23708" y="1653184"/>
            <a:ext cx="8896584" cy="3656047"/>
            <a:chOff x="185970" y="1812584"/>
            <a:chExt cx="8708327" cy="3472263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3"/>
            <a:srcRect l="450" r="701"/>
            <a:stretch/>
          </p:blipFill>
          <p:spPr>
            <a:xfrm>
              <a:off x="185970" y="1812584"/>
              <a:ext cx="8705861" cy="2916324"/>
            </a:xfrm>
            <a:prstGeom prst="rect">
              <a:avLst/>
            </a:prstGeom>
          </p:spPr>
        </p:pic>
        <p:sp>
          <p:nvSpPr>
            <p:cNvPr id="23" name="Google Shape;122;p15"/>
            <p:cNvSpPr txBox="1"/>
            <p:nvPr/>
          </p:nvSpPr>
          <p:spPr>
            <a:xfrm>
              <a:off x="1925706" y="4663177"/>
              <a:ext cx="1681650" cy="3693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PSNR</a:t>
              </a:r>
              <a:endParaRPr sz="15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22;p15"/>
            <p:cNvSpPr txBox="1"/>
            <p:nvPr/>
          </p:nvSpPr>
          <p:spPr>
            <a:xfrm>
              <a:off x="7212647" y="4664261"/>
              <a:ext cx="1681650" cy="3693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LPIPS</a:t>
              </a:r>
              <a:endParaRPr sz="15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22;p15"/>
            <p:cNvSpPr txBox="1"/>
            <p:nvPr/>
          </p:nvSpPr>
          <p:spPr>
            <a:xfrm>
              <a:off x="3660285" y="4684705"/>
              <a:ext cx="1681650" cy="600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Variable Quality Objective (PSNR)</a:t>
              </a:r>
              <a:endParaRPr sz="15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2;p15"/>
            <p:cNvSpPr txBox="1"/>
            <p:nvPr/>
          </p:nvSpPr>
          <p:spPr>
            <a:xfrm>
              <a:off x="5482638" y="4684705"/>
              <a:ext cx="1681650" cy="600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Variable Quality Objective (LPIPS)</a:t>
              </a:r>
              <a:endParaRPr sz="15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3655715" y="1812584"/>
              <a:ext cx="3497627" cy="342805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75929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0352-D60A-A843-B404-F82B8E4E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76" y="192024"/>
            <a:ext cx="8624112" cy="1143000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altLang="zh-TW" sz="4000" b="1" dirty="0"/>
              <a:t>Learned Image Coding </a:t>
            </a:r>
            <a:r>
              <a:rPr lang="en-US" altLang="zh-TW" dirty="0"/>
              <a:t>for Multimodal Large Language Models (MLLMs)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EF03A-D1E4-2640-A192-29AA045C3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340768"/>
            <a:ext cx="8545388" cy="497439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sz="2600" dirty="0"/>
          </a:p>
          <a:p>
            <a:endParaRPr lang="en-US" sz="2800" dirty="0"/>
          </a:p>
          <a:p>
            <a:pPr lvl="1"/>
            <a:endParaRPr lang="en-US" sz="2400" dirty="0"/>
          </a:p>
          <a:p>
            <a:endParaRPr lang="en-US" sz="195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5A18E-AA88-43ED-A605-D4009C1A63FA}" type="slidenum">
              <a:rPr lang="zh-TW" altLang="en-US" smtClean="0"/>
              <a:pPr/>
              <a:t>18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3482D2-1457-49C1-9CF9-257CBCF0F2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89" b="10911"/>
          <a:stretch/>
        </p:blipFill>
        <p:spPr>
          <a:xfrm>
            <a:off x="172753" y="4282097"/>
            <a:ext cx="8500980" cy="191329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5A839BE-1FB3-4A00-A75E-82C6E4021A55}"/>
              </a:ext>
            </a:extLst>
          </p:cNvPr>
          <p:cNvGrpSpPr/>
          <p:nvPr/>
        </p:nvGrpSpPr>
        <p:grpSpPr>
          <a:xfrm>
            <a:off x="1880354" y="1515080"/>
            <a:ext cx="5383292" cy="2121646"/>
            <a:chOff x="2482306" y="1970100"/>
            <a:chExt cx="4509432" cy="1777243"/>
          </a:xfrm>
        </p:grpSpPr>
        <p:pic>
          <p:nvPicPr>
            <p:cNvPr id="7" name="圖片 7" descr="一張含有 文字, 螢幕擷取畫面, 圖表 的圖片">
              <a:extLst>
                <a:ext uri="{FF2B5EF4-FFF2-40B4-BE49-F238E27FC236}">
                  <a16:creationId xmlns:a16="http://schemas.microsoft.com/office/drawing/2014/main" id="{B8B29E27-AA1F-4A60-9867-C33A41B1EB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54" t="22368" r="32"/>
            <a:stretch/>
          </p:blipFill>
          <p:spPr>
            <a:xfrm>
              <a:off x="2482306" y="2119904"/>
              <a:ext cx="4509432" cy="1627439"/>
            </a:xfrm>
            <a:prstGeom prst="rect">
              <a:avLst/>
            </a:prstGeom>
          </p:spPr>
        </p:pic>
        <p:pic>
          <p:nvPicPr>
            <p:cNvPr id="8" name="圖片 8" descr="一張含有 文字, 螢幕擷取畫面, 圖表 的圖片">
              <a:extLst>
                <a:ext uri="{FF2B5EF4-FFF2-40B4-BE49-F238E27FC236}">
                  <a16:creationId xmlns:a16="http://schemas.microsoft.com/office/drawing/2014/main" id="{CF3BC4CE-2C6D-42CF-B9DA-1FC1BAAF5C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018" t="-1184" r="32" b="82034"/>
            <a:stretch/>
          </p:blipFill>
          <p:spPr>
            <a:xfrm>
              <a:off x="3522107" y="1970100"/>
              <a:ext cx="2263140" cy="401437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523210F-CF27-4A36-9F44-C3651DB332FA}"/>
              </a:ext>
            </a:extLst>
          </p:cNvPr>
          <p:cNvSpPr txBox="1"/>
          <p:nvPr/>
        </p:nvSpPr>
        <p:spPr>
          <a:xfrm>
            <a:off x="975539" y="3977849"/>
            <a:ext cx="1162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Captioning</a:t>
            </a:r>
            <a:endParaRPr lang="zh-TW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6239F4-0406-4DC4-A093-FE86B775C4BB}"/>
              </a:ext>
            </a:extLst>
          </p:cNvPr>
          <p:cNvSpPr txBox="1"/>
          <p:nvPr/>
        </p:nvSpPr>
        <p:spPr>
          <a:xfrm>
            <a:off x="4114505" y="3977849"/>
            <a:ext cx="617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VQA</a:t>
            </a:r>
            <a:endParaRPr lang="zh-TW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F1806D-6B37-4C51-BC7F-D1E36C6D27E5}"/>
              </a:ext>
            </a:extLst>
          </p:cNvPr>
          <p:cNvSpPr txBox="1"/>
          <p:nvPr/>
        </p:nvSpPr>
        <p:spPr>
          <a:xfrm>
            <a:off x="6356272" y="3977849"/>
            <a:ext cx="2291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Few-shot Classification</a:t>
            </a:r>
            <a:endParaRPr lang="zh-TW" alt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3A4CB1-3A09-4E46-B80C-32C9DF6CE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1960" y="6216505"/>
            <a:ext cx="3867395" cy="3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14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E8E1-3423-264F-97BF-3825CDE5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IEEE ISCAS’22 Grand Challenge</a:t>
            </a:r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48700-69EA-4647-9360-8963DB8D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5A18E-AA88-43ED-A605-D4009C1A63FA}" type="slidenum">
              <a:rPr lang="zh-TW" altLang="en-US" smtClean="0"/>
              <a:pPr/>
              <a:t>19</a:t>
            </a:fld>
            <a:endParaRPr lang="zh-TW" alt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57" y="1196752"/>
            <a:ext cx="7292814" cy="5440361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2313991" y="2425959"/>
            <a:ext cx="4478694" cy="186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398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B918E93-E9C7-46D8-9665-76EB180F7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58" y="1001756"/>
            <a:ext cx="7292814" cy="56353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87E8E1-3423-264F-97BF-3825CDE5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IEEE ISCAS’23 Grand Challenge</a:t>
            </a:r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48700-69EA-4647-9360-8963DB8D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5A18E-AA88-43ED-A605-D4009C1A63FA}" type="slidenum">
              <a:rPr lang="zh-TW" altLang="en-US" smtClean="0"/>
              <a:pPr/>
              <a:t>20</a:t>
            </a:fld>
            <a:endParaRPr lang="zh-TW" altLang="en-US"/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3452509" y="3116241"/>
            <a:ext cx="210560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182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idx="1"/>
          </p:nvPr>
        </p:nvSpPr>
        <p:spPr>
          <a:xfrm>
            <a:off x="539750" y="1195948"/>
            <a:ext cx="8064500" cy="4187825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endParaRPr lang="en-US" altLang="zh-TW" sz="4400" b="1" i="1" dirty="0">
              <a:solidFill>
                <a:schemeClr val="tx2"/>
              </a:solidFill>
              <a:latin typeface="Book Antiqua" pitchFamily="18" charset="0"/>
              <a:ea typeface="新細明體" pitchFamily="18" charset="-120"/>
            </a:endParaRPr>
          </a:p>
          <a:p>
            <a:pPr algn="ctr">
              <a:buFont typeface="Wingdings" pitchFamily="2" charset="2"/>
              <a:buNone/>
            </a:pPr>
            <a:endParaRPr lang="en-US" altLang="zh-TW" sz="4400" b="1" i="1" dirty="0">
              <a:solidFill>
                <a:schemeClr val="tx2"/>
              </a:solidFill>
              <a:latin typeface="Book Antiqua" pitchFamily="18" charset="0"/>
              <a:ea typeface="新細明體" pitchFamily="18" charset="-120"/>
            </a:endParaRPr>
          </a:p>
          <a:p>
            <a:pPr algn="ctr">
              <a:buFont typeface="Wingdings" pitchFamily="2" charset="2"/>
              <a:buNone/>
            </a:pPr>
            <a:r>
              <a:rPr lang="en-US" altLang="zh-TW" sz="4400" b="1" i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新細明體" pitchFamily="18" charset="-120"/>
              </a:rPr>
              <a:t>Thank you for your attention</a:t>
            </a:r>
          </a:p>
          <a:p>
            <a:pPr>
              <a:lnSpc>
                <a:spcPct val="90000"/>
              </a:lnSpc>
            </a:pPr>
            <a:endParaRPr lang="en-US" altLang="zh-TW" sz="4400" dirty="0">
              <a:solidFill>
                <a:srgbClr val="1D2BAB"/>
              </a:solidFill>
              <a:latin typeface="Book Antiqua" pitchFamily="18" charset="0"/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b="1" i="1" dirty="0">
              <a:solidFill>
                <a:srgbClr val="C0C0C0"/>
              </a:solidFill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b="1" dirty="0">
              <a:ea typeface="新細明體" pitchFamily="18" charset="-120"/>
            </a:endParaRPr>
          </a:p>
        </p:txBody>
      </p:sp>
      <p:pic>
        <p:nvPicPr>
          <p:cNvPr id="6" name="Picture 5" descr="MCj0239551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547" y="4015348"/>
            <a:ext cx="116522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5A18E-AA88-43ED-A605-D4009C1A63FA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423365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2.1"/>
</p:tagLst>
</file>

<file path=ppt/theme/theme1.xml><?xml version="1.0" encoding="utf-8"?>
<a:theme xmlns:a="http://schemas.openxmlformats.org/drawingml/2006/main" name="公正">
  <a:themeElements>
    <a:clrScheme name="公正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3108</TotalTime>
  <Words>1782</Words>
  <Application>Microsoft Office PowerPoint</Application>
  <PresentationFormat>如螢幕大小 (4:3)</PresentationFormat>
  <Paragraphs>249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5" baseType="lpstr">
      <vt:lpstr>Arial</vt:lpstr>
      <vt:lpstr>Libre Baskerville</vt:lpstr>
      <vt:lpstr>Libre Franklin</vt:lpstr>
      <vt:lpstr>Verdana</vt:lpstr>
      <vt:lpstr>Times New Roman</vt:lpstr>
      <vt:lpstr>Noto Sans Symbols</vt:lpstr>
      <vt:lpstr>Merriweather</vt:lpstr>
      <vt:lpstr>Book Antiqua</vt:lpstr>
      <vt:lpstr>FangSong</vt:lpstr>
      <vt:lpstr>Wingdings</vt:lpstr>
      <vt:lpstr>Times</vt:lpstr>
      <vt:lpstr>Calibri</vt:lpstr>
      <vt:lpstr>Wingdings 2</vt:lpstr>
      <vt:lpstr>公正</vt:lpstr>
      <vt:lpstr>Multimedia Architecture and Processing Laboratory (MAPL) </vt:lpstr>
      <vt:lpstr>About Me</vt:lpstr>
      <vt:lpstr>Professional Activities in IEEE</vt:lpstr>
      <vt:lpstr>JETCAS</vt:lpstr>
      <vt:lpstr>Visual Signal Representation, Processing and Understanding</vt:lpstr>
      <vt:lpstr>Selected Publications</vt:lpstr>
      <vt:lpstr>Active Contributor to ISO &amp; ITU-T Video Standards</vt:lpstr>
      <vt:lpstr>Our Collaborators</vt:lpstr>
      <vt:lpstr>Student Internship</vt:lpstr>
      <vt:lpstr> End-to-End Learned Image and Video Coding: Recent Advances and Beyond</vt:lpstr>
      <vt:lpstr>Deep Compression Papers</vt:lpstr>
      <vt:lpstr>Neural Networks for Image Compression?</vt:lpstr>
      <vt:lpstr>How Good is Learned Image Compression? </vt:lpstr>
      <vt:lpstr>How Good is Learned Video Compression?</vt:lpstr>
      <vt:lpstr>Tutorial on Learned Image/Video Coding at ICCV’23</vt:lpstr>
      <vt:lpstr>Image Coding for Machine Perception</vt:lpstr>
      <vt:lpstr>Image Coding with a Variable Quality Objective</vt:lpstr>
      <vt:lpstr>Learned Image Coding for Multimodal Large Language Models (MLLMs)</vt:lpstr>
      <vt:lpstr>IEEE ISCAS’22 Grand Challenge</vt:lpstr>
      <vt:lpstr>IEEE ISCAS’23 Grand Challenge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to Fly with a Video Generator</dc:title>
  <dc:creator>mapl</dc:creator>
  <cp:lastModifiedBy>USER</cp:lastModifiedBy>
  <cp:revision>289</cp:revision>
  <dcterms:created xsi:type="dcterms:W3CDTF">2017-12-15T05:25:53Z</dcterms:created>
  <dcterms:modified xsi:type="dcterms:W3CDTF">2024-11-11T14:32:07Z</dcterms:modified>
</cp:coreProperties>
</file>